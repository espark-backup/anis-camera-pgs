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9" r:id="rId3"/>
    <p:sldId id="260" r:id="rId4"/>
    <p:sldId id="731" r:id="rId5"/>
    <p:sldId id="307" r:id="rId6"/>
    <p:sldId id="4275" r:id="rId7"/>
    <p:sldId id="4277" r:id="rId8"/>
    <p:sldId id="276" r:id="rId9"/>
    <p:sldId id="279" r:id="rId10"/>
    <p:sldId id="4281" r:id="rId11"/>
    <p:sldId id="285" r:id="rId12"/>
    <p:sldId id="4282" r:id="rId13"/>
    <p:sldId id="4283" r:id="rId14"/>
    <p:sldId id="4280" r:id="rId15"/>
    <p:sldId id="286" r:id="rId16"/>
    <p:sldId id="277" r:id="rId17"/>
    <p:sldId id="278" r:id="rId18"/>
    <p:sldId id="275" r:id="rId19"/>
    <p:sldId id="264" r:id="rId20"/>
    <p:sldId id="282" r:id="rId21"/>
    <p:sldId id="271" r:id="rId22"/>
    <p:sldId id="4284" r:id="rId23"/>
    <p:sldId id="4278" r:id="rId24"/>
    <p:sldId id="677" r:id="rId25"/>
    <p:sldId id="454" r:id="rId26"/>
  </p:sldIdLst>
  <p:sldSz cx="9144000" cy="5143500" type="screen16x9"/>
  <p:notesSz cx="9296400" cy="147701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285362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666253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047146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7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652">
          <p15:clr>
            <a:srgbClr val="A4A3A4"/>
          </p15:clr>
        </p15:guide>
        <p15:guide id="2" pos="292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AAAA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598" autoAdjust="0"/>
  </p:normalViewPr>
  <p:slideViewPr>
    <p:cSldViewPr snapToGrid="0">
      <p:cViewPr varScale="1">
        <p:scale>
          <a:sx n="151" d="100"/>
          <a:sy n="151" d="100"/>
        </p:scale>
        <p:origin x="456" y="138"/>
      </p:cViewPr>
      <p:guideLst>
        <p:guide orient="horz" pos="1620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1512" y="-90"/>
      </p:cViewPr>
      <p:guideLst>
        <p:guide orient="horz" pos="4652"/>
        <p:guide pos="292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8D56EAE8-38CB-4EE5-8A34-F5F49B68F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079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6329" y="2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74638" y="1108075"/>
            <a:ext cx="9845676" cy="55387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9854" y="7016308"/>
            <a:ext cx="7436693" cy="66450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4030071"/>
            <a:ext cx="4027944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>
              <a:defRPr sz="1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6329" y="14030071"/>
            <a:ext cx="4027943" cy="73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6205" tIns="68102" rIns="136205" bIns="68102" numCol="1" anchor="b" anchorCtr="0" compatLnSpc="1">
            <a:prstTxWarp prst="textNoShape">
              <a:avLst/>
            </a:prstTxWarp>
          </a:bodyPr>
          <a:lstStyle>
            <a:lvl1pPr algn="r">
              <a:defRPr sz="1800"/>
            </a:lvl1pPr>
          </a:lstStyle>
          <a:p>
            <a:pPr>
              <a:defRPr/>
            </a:pPr>
            <a:fld id="{BED2394B-E06C-4DC9-BCC2-551C3DED9A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354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285362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666253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047146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D2394B-E06C-4DC9-BCC2-551C3DED9AAD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22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D2394B-E06C-4DC9-BCC2-551C3DED9AAD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9221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D2394B-E06C-4DC9-BCC2-551C3DED9AAD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5020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D2394B-E06C-4DC9-BCC2-551C3DED9AAD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D2394B-E06C-4DC9-BCC2-551C3DED9AAD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3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0869" indent="-284949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39797" indent="-22796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595716" indent="-22796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1635" indent="-22796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07554" indent="-22796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63473" indent="-22796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19392" indent="-22796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75311" indent="-22796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/>
            <a:fld id="{2DE83793-6BEC-43D3-8583-32FC39E7F132}" type="slidenum">
              <a:rPr lang="en-US" altLang="en-US" smtClean="0">
                <a:solidFill>
                  <a:srgbClr val="000000"/>
                </a:solidFill>
              </a:rPr>
              <a:pPr eaLnBrk="1" hangingPunct="1"/>
              <a:t>25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940445" y="8843328"/>
            <a:ext cx="3012819" cy="464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76" tIns="46385" rIns="92776" bIns="46385" anchor="b"/>
          <a:lstStyle>
            <a:lvl1pPr defTabSz="91598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defTabSz="91598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defTabSz="91598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defTabSz="91598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defTabSz="915988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algn="r" eaLnBrk="1" hangingPunct="1"/>
            <a:fld id="{357A90C1-99EF-4C02-8B02-9788782C5A07}" type="slidenum">
              <a:rPr lang="en-US" altLang="en-US">
                <a:solidFill>
                  <a:srgbClr val="000000"/>
                </a:solidFill>
              </a:rPr>
              <a:pPr algn="r" eaLnBrk="1" hangingPunct="1"/>
              <a:t>25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74650" y="696913"/>
            <a:ext cx="6205538" cy="3490912"/>
          </a:xfrm>
          <a:ln/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6114" y="4420869"/>
            <a:ext cx="5562611" cy="419036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776" tIns="46385" rIns="92776" bIns="46385"/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3BA23CF-AA30-4A18-B744-605C3E9DBF07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6687D7-76F0-8040-93B6-084C7529F854}"/>
              </a:ext>
            </a:extLst>
          </p:cNvPr>
          <p:cNvSpPr txBox="1"/>
          <p:nvPr userDrawn="1"/>
        </p:nvSpPr>
        <p:spPr>
          <a:xfrm>
            <a:off x="4705815" y="478015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02473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306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815B5F2-A5A7-1E49-BC30-BA3F759961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884946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31"/>
            <a:ext cx="8458200" cy="1102519"/>
          </a:xfrm>
        </p:spPr>
        <p:txBody>
          <a:bodyPr/>
          <a:lstStyle>
            <a:lvl1pPr>
              <a:defRPr sz="33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8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73F1F293-7B5B-6248-AEF0-BCB7B73543E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439927"/>
            <a:ext cx="2133600" cy="15478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BA23CF-AA30-4A18-B744-605C3E9DBF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 descr="A picture containing drawing, cup&#10;&#10;Description automatically generated">
            <a:extLst>
              <a:ext uri="{FF2B5EF4-FFF2-40B4-BE49-F238E27FC236}">
                <a16:creationId xmlns:a16="http://schemas.microsoft.com/office/drawing/2014/main" id="{7CC34E39-7310-7442-846F-66689DD005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9868" y="4782676"/>
            <a:ext cx="1563597" cy="19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251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378" y="786357"/>
            <a:ext cx="8467725" cy="3709449"/>
          </a:xfrm>
        </p:spPr>
        <p:txBody>
          <a:bodyPr/>
          <a:lstStyle>
            <a:lvl1pPr>
              <a:spcBef>
                <a:spcPts val="667"/>
              </a:spcBef>
              <a:defRPr/>
            </a:lvl1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97888F-6AF7-4263-B69D-592D8C33BA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5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54343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33375" y="889398"/>
            <a:ext cx="4157663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889398"/>
            <a:ext cx="4157662" cy="3519488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3548F6-AAA9-4A8D-A869-511B3DFE32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50988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80895" indent="0">
              <a:buNone/>
              <a:defRPr sz="1700" b="1"/>
            </a:lvl2pPr>
            <a:lvl3pPr marL="761790" indent="0">
              <a:buNone/>
              <a:defRPr sz="1500" b="1"/>
            </a:lvl3pPr>
            <a:lvl4pPr marL="1142683" indent="0">
              <a:buNone/>
              <a:defRPr sz="1300" b="1"/>
            </a:lvl4pPr>
            <a:lvl5pPr marL="1523573" indent="0">
              <a:buNone/>
              <a:defRPr sz="1300" b="1"/>
            </a:lvl5pPr>
            <a:lvl6pPr marL="1904467" indent="0">
              <a:buNone/>
              <a:defRPr sz="1300" b="1"/>
            </a:lvl6pPr>
            <a:lvl7pPr marL="2285362" indent="0">
              <a:buNone/>
              <a:defRPr sz="1300" b="1"/>
            </a:lvl7pPr>
            <a:lvl8pPr marL="2666253" indent="0">
              <a:buNone/>
              <a:defRPr sz="1300" b="1"/>
            </a:lvl8pPr>
            <a:lvl9pPr marL="3047146" indent="0">
              <a:buNone/>
              <a:defRPr sz="13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7"/>
            <a:ext cx="4041775" cy="2963466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7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C35C9-3222-4444-B33E-8AB075BE83C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8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377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C52F08-588C-488E-A5AB-DF69250DE8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4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23704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7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Aft>
                <a:spcPct val="0"/>
              </a:spcAft>
              <a:defRPr lang="en-US" sz="17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rtl="0" eaLnBrk="0" fontAlgn="base" hangingPunct="0">
              <a:spcAft>
                <a:spcPct val="0"/>
              </a:spcAft>
              <a:defRPr lang="en-US" sz="15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rtl="0" eaLnBrk="0" fontAlgn="base" hangingPunct="0">
              <a:spcAft>
                <a:spcPct val="0"/>
              </a:spcAft>
              <a:defRPr lang="en-US" sz="15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8"/>
          </a:xfrm>
        </p:spPr>
        <p:txBody>
          <a:bodyPr/>
          <a:lstStyle>
            <a:lvl1pPr marL="0" indent="0">
              <a:buNone/>
              <a:defRPr sz="1700"/>
            </a:lvl1pPr>
            <a:lvl2pPr marL="380895" indent="0">
              <a:buNone/>
              <a:defRPr sz="1000"/>
            </a:lvl2pPr>
            <a:lvl3pPr marL="761790" indent="0">
              <a:buNone/>
              <a:defRPr sz="800"/>
            </a:lvl3pPr>
            <a:lvl4pPr marL="1142683" indent="0">
              <a:buNone/>
              <a:defRPr sz="700"/>
            </a:lvl4pPr>
            <a:lvl5pPr marL="1523573" indent="0">
              <a:buNone/>
              <a:defRPr sz="700"/>
            </a:lvl5pPr>
            <a:lvl6pPr marL="1904467" indent="0">
              <a:buNone/>
              <a:defRPr sz="700"/>
            </a:lvl6pPr>
            <a:lvl7pPr marL="2285362" indent="0">
              <a:buNone/>
              <a:defRPr sz="700"/>
            </a:lvl7pPr>
            <a:lvl8pPr marL="2666253" indent="0">
              <a:buNone/>
              <a:defRPr sz="700"/>
            </a:lvl8pPr>
            <a:lvl9pPr marL="3047146" indent="0">
              <a:buNone/>
              <a:defRPr sz="7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B97EEC-B5BC-42C5-B73F-31CC660D4D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7" descr="ti_logo_powerpoint_1_line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29362" y="4782264"/>
            <a:ext cx="1562364" cy="1931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726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07163"/>
            <a:ext cx="8458200" cy="6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33378" y="794149"/>
            <a:ext cx="8467725" cy="37016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67503" y="4442792"/>
            <a:ext cx="2133600" cy="1547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76179" tIns="38088" rIns="76179" bIns="38088" numCol="1" anchor="t" anchorCtr="0" compatLnSpc="1">
            <a:prstTxWarp prst="textNoShape">
              <a:avLst/>
            </a:prstTxWarp>
          </a:bodyPr>
          <a:lstStyle>
            <a:lvl1pPr algn="r">
              <a:defRPr sz="7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6C70261-DCF8-4A97-9502-E8EEF2364CDE}" type="slidenum"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663C74-62AB-B64B-BCBB-0866ABE6E2D3}"/>
              </a:ext>
            </a:extLst>
          </p:cNvPr>
          <p:cNvCxnSpPr>
            <a:cxnSpLocks/>
          </p:cNvCxnSpPr>
          <p:nvPr userDrawn="1"/>
        </p:nvCxnSpPr>
        <p:spPr>
          <a:xfrm>
            <a:off x="0" y="4656947"/>
            <a:ext cx="892889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377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</p:sldLayoutIdLst>
  <p:hf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chemeClr val="tx2"/>
          </a:solidFill>
          <a:latin typeface="Arial" charset="0"/>
        </a:defRPr>
      </a:lvl5pPr>
      <a:lvl6pPr marL="380895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6pPr>
      <a:lvl7pPr marL="76179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7pPr>
      <a:lvl8pPr marL="114268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8pPr>
      <a:lvl9pPr marL="15235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700" b="1">
          <a:solidFill>
            <a:srgbClr val="FF0000"/>
          </a:solidFill>
          <a:latin typeface="Arial" charset="0"/>
        </a:defRPr>
      </a:lvl9pPr>
    </p:titleStyle>
    <p:bodyStyle>
      <a:lvl1pPr marL="189124" indent="-189124" algn="l" rtl="0" eaLnBrk="1" fontAlgn="base" hangingPunct="1">
        <a:spcBef>
          <a:spcPts val="667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78763" indent="-194416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711530" indent="-137548" algn="l" rtl="0" eaLnBrk="1" fontAlgn="base" hangingPunct="1">
        <a:spcBef>
          <a:spcPct val="15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001168" indent="-194416" algn="l" rtl="0" eaLnBrk="1" fontAlgn="base" hangingPunct="1">
        <a:spcBef>
          <a:spcPct val="5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1240546" indent="-144163" algn="l" rtl="0" eaLnBrk="1" fontAlgn="base" hangingPunct="1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1621441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6pPr>
      <a:lvl7pPr marL="2002336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7pPr>
      <a:lvl8pPr marL="2383230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8pPr>
      <a:lvl9pPr marL="2764124" indent="-144163" algn="l" rtl="0" eaLnBrk="1" fontAlgn="base" hangingPunct="1">
        <a:spcBef>
          <a:spcPct val="0"/>
        </a:spcBef>
        <a:spcAft>
          <a:spcPct val="0"/>
        </a:spcAft>
        <a:buChar char="»"/>
        <a:defRPr sz="1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895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790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68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57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467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362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253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146" algn="l" defTabSz="76179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i.com/tool/TPS23755EVM-894" TargetMode="External"/><Relationship Id="rId13" Type="http://schemas.openxmlformats.org/officeDocument/2006/relationships/hyperlink" Target="https://www.ti.com/power-management/power-over-ethernet-poe/powered-devices/overview.html" TargetMode="External"/><Relationship Id="rId18" Type="http://schemas.openxmlformats.org/officeDocument/2006/relationships/hyperlink" Target="https://www.ti.com/tool/PMP10288" TargetMode="External"/><Relationship Id="rId3" Type="http://schemas.openxmlformats.org/officeDocument/2006/relationships/hyperlink" Target="https://www.ti.com/tool/TPS23758EVM-080" TargetMode="External"/><Relationship Id="rId7" Type="http://schemas.openxmlformats.org/officeDocument/2006/relationships/hyperlink" Target="https://www.ti.com/tool/PMP22806" TargetMode="External"/><Relationship Id="rId12" Type="http://schemas.openxmlformats.org/officeDocument/2006/relationships/hyperlink" Target="https://www.ti.com/tool/PMP21318" TargetMode="External"/><Relationship Id="rId17" Type="http://schemas.openxmlformats.org/officeDocument/2006/relationships/hyperlink" Target="https://www.ti.com/tool/PMP7452" TargetMode="External"/><Relationship Id="rId2" Type="http://schemas.openxmlformats.org/officeDocument/2006/relationships/hyperlink" Target="https://www.ti.com/tool/TPS2373-4EVM-758" TargetMode="External"/><Relationship Id="rId16" Type="http://schemas.openxmlformats.org/officeDocument/2006/relationships/hyperlink" Target="https://www.ti.com/tool/PMP22301" TargetMode="Externa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www.ti.com/tool/TIDA-050045" TargetMode="External"/><Relationship Id="rId11" Type="http://schemas.openxmlformats.org/officeDocument/2006/relationships/hyperlink" Target="https://www.ti.com/tool/TPS23730EVM-093" TargetMode="External"/><Relationship Id="rId5" Type="http://schemas.openxmlformats.org/officeDocument/2006/relationships/hyperlink" Target="https://www.ti.com/tool/TPS23734EVM-094" TargetMode="External"/><Relationship Id="rId15" Type="http://schemas.openxmlformats.org/officeDocument/2006/relationships/hyperlink" Target="https://www.ti.com/tool/TIDA-00539" TargetMode="External"/><Relationship Id="rId10" Type="http://schemas.openxmlformats.org/officeDocument/2006/relationships/hyperlink" Target="https://www.ti.com/tool/PMP22477" TargetMode="External"/><Relationship Id="rId19" Type="http://schemas.openxmlformats.org/officeDocument/2006/relationships/hyperlink" Target="https://www.ti.com/tool/TPS23753AEVM-004" TargetMode="External"/><Relationship Id="rId4" Type="http://schemas.openxmlformats.org/officeDocument/2006/relationships/hyperlink" Target="https://www.ti.com/tool/TPS23731EVM-095" TargetMode="External"/><Relationship Id="rId9" Type="http://schemas.openxmlformats.org/officeDocument/2006/relationships/hyperlink" Target="https://www.ti.com/tool/TPS23754EVM-383" TargetMode="External"/><Relationship Id="rId14" Type="http://schemas.openxmlformats.org/officeDocument/2006/relationships/hyperlink" Target="https://www.ti.com/tool/PMP20878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png"/><Relationship Id="rId4" Type="http://schemas.openxmlformats.org/officeDocument/2006/relationships/image" Target="../media/image16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9999-2766-44A3-A825-402057428F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PoE </a:t>
            </a:r>
            <a:r>
              <a:rPr lang="en-US" dirty="0"/>
              <a:t>Passthrough Proposal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25640-041A-41A9-ADA8-6AB3DD063B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Brandon Beader &amp; Diang Xing</a:t>
            </a:r>
          </a:p>
          <a:p>
            <a:r>
              <a:rPr lang="en-US" dirty="0"/>
              <a:t>8/30/2023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50E5C-6DB6-4A34-87B1-D6AFA20F76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586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0F1AB-479B-4325-B13D-219528061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313BE-57DF-4CEB-9ED8-59436A5A6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 PoE Portfolio</a:t>
            </a:r>
          </a:p>
          <a:p>
            <a:pPr lvl="1"/>
            <a:r>
              <a:rPr lang="en-US" dirty="0"/>
              <a:t>PD Section</a:t>
            </a:r>
          </a:p>
          <a:p>
            <a:pPr lvl="1"/>
            <a:r>
              <a:rPr lang="en-US" dirty="0"/>
              <a:t>PSE Section</a:t>
            </a:r>
          </a:p>
          <a:p>
            <a:r>
              <a:rPr lang="en-US" dirty="0"/>
              <a:t>Passthrough (daisy chaining)</a:t>
            </a:r>
          </a:p>
          <a:p>
            <a:pPr lvl="1"/>
            <a:r>
              <a:rPr lang="en-US" dirty="0"/>
              <a:t>Benefits of passthrough</a:t>
            </a:r>
          </a:p>
          <a:p>
            <a:pPr lvl="1"/>
            <a:r>
              <a:rPr lang="en-US" dirty="0"/>
              <a:t>Block diagram</a:t>
            </a:r>
          </a:p>
          <a:p>
            <a:pPr lvl="1"/>
            <a:r>
              <a:rPr lang="en-US" dirty="0"/>
              <a:t>TI solutions for PoE daisy chaining</a:t>
            </a:r>
          </a:p>
          <a:p>
            <a:r>
              <a:rPr lang="en-US" dirty="0"/>
              <a:t>Device Information</a:t>
            </a:r>
          </a:p>
          <a:p>
            <a:pPr lvl="1"/>
            <a:r>
              <a:rPr lang="en-US" dirty="0"/>
              <a:t>TPS23881B1</a:t>
            </a:r>
          </a:p>
          <a:p>
            <a:pPr lvl="1"/>
            <a:r>
              <a:rPr lang="en-US" dirty="0"/>
              <a:t>TPS2372-3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7CBE6-E169-4F11-AE36-F9A92E1EBA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645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66D4A3-D20E-4E5C-9C1B-85DF3D5DF3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 PoE Portfolio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2416F-0250-40C0-AEAB-13943F11D0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2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7019710" y="4799996"/>
            <a:ext cx="2133600" cy="273844"/>
          </a:xfrm>
          <a:prstGeom prst="rect">
            <a:avLst/>
          </a:prstGeom>
        </p:spPr>
        <p:txBody>
          <a:bodyPr lIns="91436" tIns="45718" rIns="91436" bIns="45718"/>
          <a:lstStyle/>
          <a:p>
            <a:fld id="{0892281B-189C-DD44-8CCD-1176BC153EB5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Diamond 3"/>
          <p:cNvSpPr/>
          <p:nvPr/>
        </p:nvSpPr>
        <p:spPr>
          <a:xfrm>
            <a:off x="3761547" y="641731"/>
            <a:ext cx="1403902" cy="737153"/>
          </a:xfrm>
          <a:prstGeom prst="diamond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Power level</a:t>
            </a:r>
          </a:p>
        </p:txBody>
      </p:sp>
      <p:cxnSp>
        <p:nvCxnSpPr>
          <p:cNvPr id="5" name="Straight Arrow Connector 4"/>
          <p:cNvCxnSpPr>
            <a:stCxn id="4" idx="2"/>
            <a:endCxn id="8" idx="0"/>
          </p:cNvCxnSpPr>
          <p:nvPr/>
        </p:nvCxnSpPr>
        <p:spPr>
          <a:xfrm>
            <a:off x="4463499" y="1378884"/>
            <a:ext cx="1" cy="43248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49274" y="779480"/>
            <a:ext cx="1759917" cy="230828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≤ 71.3W (Class 5-8)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9310" y="1419280"/>
            <a:ext cx="1327230" cy="384717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≤ 25.5 W</a:t>
            </a:r>
          </a:p>
          <a:p>
            <a:r>
              <a:rPr lang="en-US" sz="1000" dirty="0"/>
              <a:t>(Class 4)</a:t>
            </a:r>
          </a:p>
        </p:txBody>
      </p:sp>
      <p:sp>
        <p:nvSpPr>
          <p:cNvPr id="8" name="Diamond 7"/>
          <p:cNvSpPr/>
          <p:nvPr/>
        </p:nvSpPr>
        <p:spPr>
          <a:xfrm>
            <a:off x="3761548" y="1811367"/>
            <a:ext cx="1403903" cy="749578"/>
          </a:xfrm>
          <a:prstGeom prst="diamond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Isolated or Non-Isolated?</a:t>
            </a:r>
          </a:p>
        </p:txBody>
      </p:sp>
      <p:cxnSp>
        <p:nvCxnSpPr>
          <p:cNvPr id="9" name="Straight Arrow Connector 8"/>
          <p:cNvCxnSpPr>
            <a:stCxn id="8" idx="2"/>
            <a:endCxn id="35" idx="0"/>
          </p:cNvCxnSpPr>
          <p:nvPr/>
        </p:nvCxnSpPr>
        <p:spPr>
          <a:xfrm>
            <a:off x="4463500" y="2560945"/>
            <a:ext cx="1" cy="19228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28269" y="2516849"/>
            <a:ext cx="791726" cy="230828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Isolated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7570" y="1968843"/>
            <a:ext cx="1227666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Non-Isolated</a:t>
            </a:r>
            <a:endParaRPr lang="en-US" sz="700" dirty="0"/>
          </a:p>
        </p:txBody>
      </p:sp>
      <p:cxnSp>
        <p:nvCxnSpPr>
          <p:cNvPr id="12" name="Elbow Connector 11"/>
          <p:cNvCxnSpPr>
            <a:stCxn id="8" idx="3"/>
            <a:endCxn id="34" idx="0"/>
          </p:cNvCxnSpPr>
          <p:nvPr/>
        </p:nvCxnSpPr>
        <p:spPr>
          <a:xfrm>
            <a:off x="5165451" y="2186156"/>
            <a:ext cx="309089" cy="1816518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80301" y="3985938"/>
            <a:ext cx="89154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TPS23758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0621" y="779475"/>
            <a:ext cx="1470720" cy="230828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&lt;13W (Class 1-3)</a:t>
            </a:r>
          </a:p>
        </p:txBody>
      </p:sp>
      <p:sp>
        <p:nvSpPr>
          <p:cNvPr id="15" name="Diamond 14"/>
          <p:cNvSpPr/>
          <p:nvPr/>
        </p:nvSpPr>
        <p:spPr>
          <a:xfrm>
            <a:off x="831534" y="1209765"/>
            <a:ext cx="1206741" cy="540705"/>
          </a:xfrm>
          <a:prstGeom prst="diamond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Isolated</a:t>
            </a:r>
          </a:p>
          <a:p>
            <a:pPr algn="ctr"/>
            <a:r>
              <a:rPr lang="en-US" sz="800" dirty="0">
                <a:solidFill>
                  <a:schemeClr val="tx1"/>
                </a:solidFill>
              </a:rPr>
              <a:t>Design?</a:t>
            </a:r>
          </a:p>
        </p:txBody>
      </p:sp>
      <p:cxnSp>
        <p:nvCxnSpPr>
          <p:cNvPr id="16" name="Elbow Connector 15"/>
          <p:cNvCxnSpPr>
            <a:stCxn id="15" idx="1"/>
          </p:cNvCxnSpPr>
          <p:nvPr/>
        </p:nvCxnSpPr>
        <p:spPr>
          <a:xfrm rot="10800000" flipV="1">
            <a:off x="148122" y="1480118"/>
            <a:ext cx="683413" cy="2510288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9342" y="1697473"/>
            <a:ext cx="825333" cy="346248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Y / Flyback</a:t>
            </a:r>
          </a:p>
          <a:p>
            <a:r>
              <a:rPr lang="en-US" sz="700" dirty="0"/>
              <a:t>(Recommended)</a:t>
            </a:r>
          </a:p>
        </p:txBody>
      </p:sp>
      <p:sp>
        <p:nvSpPr>
          <p:cNvPr id="18" name="Diamond 17"/>
          <p:cNvSpPr/>
          <p:nvPr/>
        </p:nvSpPr>
        <p:spPr>
          <a:xfrm>
            <a:off x="831533" y="3073712"/>
            <a:ext cx="1206740" cy="627358"/>
          </a:xfrm>
          <a:prstGeom prst="diamond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800" dirty="0" err="1">
                <a:solidFill>
                  <a:schemeClr val="tx1"/>
                </a:solidFill>
              </a:rPr>
              <a:t>Vout</a:t>
            </a:r>
            <a:r>
              <a:rPr lang="en-US" sz="800" dirty="0">
                <a:solidFill>
                  <a:schemeClr val="tx1"/>
                </a:solidFill>
              </a:rPr>
              <a:t> level?</a:t>
            </a:r>
          </a:p>
        </p:txBody>
      </p:sp>
      <p:cxnSp>
        <p:nvCxnSpPr>
          <p:cNvPr id="19" name="Straight Arrow Connector 18"/>
          <p:cNvCxnSpPr>
            <a:stCxn id="18" idx="2"/>
            <a:endCxn id="13" idx="0"/>
          </p:cNvCxnSpPr>
          <p:nvPr/>
        </p:nvCxnSpPr>
        <p:spPr>
          <a:xfrm flipH="1">
            <a:off x="1426071" y="3701070"/>
            <a:ext cx="8833" cy="28486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467475" y="3701070"/>
            <a:ext cx="701951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3.3V/5V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18" y="3980835"/>
            <a:ext cx="892405" cy="46002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TPS23755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(Smooth Transition w. AUX)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1390" y="1249285"/>
            <a:ext cx="756194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N / Buck</a:t>
            </a:r>
          </a:p>
        </p:txBody>
      </p:sp>
      <p:cxnSp>
        <p:nvCxnSpPr>
          <p:cNvPr id="23" name="Elbow Connector 22"/>
          <p:cNvCxnSpPr>
            <a:stCxn id="18" idx="1"/>
            <a:endCxn id="21" idx="0"/>
          </p:cNvCxnSpPr>
          <p:nvPr/>
        </p:nvCxnSpPr>
        <p:spPr>
          <a:xfrm rot="10800000" flipV="1">
            <a:off x="455222" y="3387390"/>
            <a:ext cx="376313" cy="593444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9342" y="3144657"/>
            <a:ext cx="651768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&gt;=12V</a:t>
            </a:r>
          </a:p>
        </p:txBody>
      </p:sp>
      <p:sp>
        <p:nvSpPr>
          <p:cNvPr id="25" name="Diamond 24"/>
          <p:cNvSpPr/>
          <p:nvPr/>
        </p:nvSpPr>
        <p:spPr>
          <a:xfrm>
            <a:off x="7009192" y="2503073"/>
            <a:ext cx="1078932" cy="490951"/>
          </a:xfrm>
          <a:prstGeom prst="diamond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Isolated Design?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96263" y="3990406"/>
            <a:ext cx="89154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TPS2372</a:t>
            </a:r>
            <a:endParaRPr lang="en-US" sz="700" dirty="0">
              <a:solidFill>
                <a:srgbClr val="000000"/>
              </a:solidFill>
            </a:endParaRPr>
          </a:p>
          <a:p>
            <a:pPr lvl="0" algn="ctr"/>
            <a:r>
              <a:rPr lang="en-US" sz="700" dirty="0">
                <a:solidFill>
                  <a:srgbClr val="000000"/>
                </a:solidFill>
              </a:rPr>
              <a:t>(Also for dual input)</a:t>
            </a:r>
          </a:p>
        </p:txBody>
      </p:sp>
      <p:cxnSp>
        <p:nvCxnSpPr>
          <p:cNvPr id="27" name="Straight Arrow Connector 26"/>
          <p:cNvCxnSpPr>
            <a:stCxn id="25" idx="2"/>
            <a:endCxn id="26" idx="0"/>
          </p:cNvCxnSpPr>
          <p:nvPr/>
        </p:nvCxnSpPr>
        <p:spPr>
          <a:xfrm flipH="1">
            <a:off x="7542033" y="2994024"/>
            <a:ext cx="6626" cy="99638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015241" y="2516848"/>
            <a:ext cx="1076589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Y / Flyback</a:t>
            </a:r>
          </a:p>
        </p:txBody>
      </p:sp>
      <p:cxnSp>
        <p:nvCxnSpPr>
          <p:cNvPr id="29" name="Elbow Connector 28"/>
          <p:cNvCxnSpPr>
            <a:stCxn id="25" idx="3"/>
            <a:endCxn id="30" idx="0"/>
          </p:cNvCxnSpPr>
          <p:nvPr/>
        </p:nvCxnSpPr>
        <p:spPr>
          <a:xfrm>
            <a:off x="8088124" y="2748549"/>
            <a:ext cx="487603" cy="1234334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8129958" y="3982883"/>
            <a:ext cx="89154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TPS2373 - 4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(Generally more recommended than TPS2372)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6635" y="2978999"/>
            <a:ext cx="1092912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N / Buck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97911" y="4003016"/>
            <a:ext cx="89154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2"/>
                </a:solidFill>
              </a:rPr>
              <a:t>NEW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TPS23731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23061" y="4000741"/>
            <a:ext cx="89154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2"/>
                </a:solidFill>
              </a:rPr>
              <a:t>NEW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TPS23734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8769" y="4002674"/>
            <a:ext cx="89154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TPS2378</a:t>
            </a:r>
          </a:p>
        </p:txBody>
      </p:sp>
      <p:sp>
        <p:nvSpPr>
          <p:cNvPr id="35" name="Diamond 34"/>
          <p:cNvSpPr/>
          <p:nvPr/>
        </p:nvSpPr>
        <p:spPr>
          <a:xfrm>
            <a:off x="3761549" y="2753227"/>
            <a:ext cx="1403903" cy="749578"/>
          </a:xfrm>
          <a:prstGeom prst="diamond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Which Topology?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1195" y="3501518"/>
            <a:ext cx="528668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ACF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36958" y="2878607"/>
            <a:ext cx="1088766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 err="1"/>
              <a:t>Flyback</a:t>
            </a:r>
            <a:endParaRPr lang="en-US" sz="1000" dirty="0"/>
          </a:p>
        </p:txBody>
      </p:sp>
      <p:cxnSp>
        <p:nvCxnSpPr>
          <p:cNvPr id="38" name="Elbow Connector 37"/>
          <p:cNvCxnSpPr>
            <a:stCxn id="35" idx="1"/>
            <a:endCxn id="32" idx="0"/>
          </p:cNvCxnSpPr>
          <p:nvPr/>
        </p:nvCxnSpPr>
        <p:spPr>
          <a:xfrm rot="10800000" flipV="1">
            <a:off x="3443682" y="3128016"/>
            <a:ext cx="317868" cy="87500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/>
          <p:cNvCxnSpPr>
            <a:stCxn id="4" idx="3"/>
            <a:endCxn id="51" idx="0"/>
          </p:cNvCxnSpPr>
          <p:nvPr/>
        </p:nvCxnSpPr>
        <p:spPr>
          <a:xfrm>
            <a:off x="5165449" y="1010308"/>
            <a:ext cx="2389788" cy="534023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2006047" y="4005616"/>
            <a:ext cx="89154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TPS23753A</a:t>
            </a:r>
          </a:p>
        </p:txBody>
      </p:sp>
      <p:sp>
        <p:nvSpPr>
          <p:cNvPr id="41" name="Diamond 40"/>
          <p:cNvSpPr/>
          <p:nvPr/>
        </p:nvSpPr>
        <p:spPr>
          <a:xfrm>
            <a:off x="700383" y="2043721"/>
            <a:ext cx="1469042" cy="809934"/>
          </a:xfrm>
          <a:prstGeom prst="diamond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Primary or Secondary side Regulation?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95623" y="2808560"/>
            <a:ext cx="756194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Primary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1510" y="2236764"/>
            <a:ext cx="1515698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Secondary(w/ Opto)</a:t>
            </a:r>
          </a:p>
        </p:txBody>
      </p:sp>
      <p:cxnSp>
        <p:nvCxnSpPr>
          <p:cNvPr id="44" name="Elbow Connector 43"/>
          <p:cNvCxnSpPr>
            <a:stCxn id="4" idx="1"/>
            <a:endCxn id="15" idx="0"/>
          </p:cNvCxnSpPr>
          <p:nvPr/>
        </p:nvCxnSpPr>
        <p:spPr>
          <a:xfrm rot="10800000" flipV="1">
            <a:off x="1434904" y="1010307"/>
            <a:ext cx="2326643" cy="199458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stCxn id="15" idx="2"/>
            <a:endCxn id="41" idx="0"/>
          </p:cNvCxnSpPr>
          <p:nvPr/>
        </p:nvCxnSpPr>
        <p:spPr>
          <a:xfrm>
            <a:off x="1434904" y="1750470"/>
            <a:ext cx="0" cy="29325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1" idx="2"/>
            <a:endCxn id="18" idx="0"/>
          </p:cNvCxnSpPr>
          <p:nvPr/>
        </p:nvCxnSpPr>
        <p:spPr>
          <a:xfrm flipH="1">
            <a:off x="1434904" y="2853655"/>
            <a:ext cx="1" cy="22005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41" idx="3"/>
            <a:endCxn id="40" idx="0"/>
          </p:cNvCxnSpPr>
          <p:nvPr/>
        </p:nvCxnSpPr>
        <p:spPr>
          <a:xfrm>
            <a:off x="2169425" y="2448689"/>
            <a:ext cx="282392" cy="1556928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35" idx="2"/>
            <a:endCxn id="33" idx="0"/>
          </p:cNvCxnSpPr>
          <p:nvPr/>
        </p:nvCxnSpPr>
        <p:spPr>
          <a:xfrm>
            <a:off x="4463500" y="3502805"/>
            <a:ext cx="5331" cy="49793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025095" y="3993120"/>
            <a:ext cx="891540" cy="4572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2"/>
                </a:solidFill>
              </a:rPr>
              <a:t>NEW</a:t>
            </a:r>
            <a:endParaRPr lang="en-US" sz="1000" dirty="0">
              <a:solidFill>
                <a:schemeClr val="tx1"/>
              </a:solidFill>
            </a:endParaRP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TPS23730</a:t>
            </a:r>
          </a:p>
        </p:txBody>
      </p:sp>
      <p:sp>
        <p:nvSpPr>
          <p:cNvPr id="51" name="Diamond 50"/>
          <p:cNvSpPr/>
          <p:nvPr/>
        </p:nvSpPr>
        <p:spPr>
          <a:xfrm>
            <a:off x="6853286" y="1544330"/>
            <a:ext cx="1403903" cy="749578"/>
          </a:xfrm>
          <a:prstGeom prst="diamond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Power Level&lt;=51W</a:t>
            </a:r>
          </a:p>
        </p:txBody>
      </p:sp>
      <p:cxnSp>
        <p:nvCxnSpPr>
          <p:cNvPr id="52" name="Straight Arrow Connector 51"/>
          <p:cNvCxnSpPr>
            <a:stCxn id="51" idx="2"/>
            <a:endCxn id="25" idx="0"/>
          </p:cNvCxnSpPr>
          <p:nvPr/>
        </p:nvCxnSpPr>
        <p:spPr>
          <a:xfrm flipH="1">
            <a:off x="7548659" y="2293909"/>
            <a:ext cx="6579" cy="20916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755249" y="1614163"/>
            <a:ext cx="558428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55238" y="2323276"/>
            <a:ext cx="378239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55" name="Diamond 54"/>
          <p:cNvSpPr/>
          <p:nvPr/>
        </p:nvSpPr>
        <p:spPr>
          <a:xfrm>
            <a:off x="5938649" y="2907914"/>
            <a:ext cx="1080191" cy="549813"/>
          </a:xfrm>
          <a:prstGeom prst="diamond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Isolated Design?</a:t>
            </a:r>
          </a:p>
        </p:txBody>
      </p:sp>
      <p:cxnSp>
        <p:nvCxnSpPr>
          <p:cNvPr id="56" name="Elbow Connector 55"/>
          <p:cNvCxnSpPr>
            <a:stCxn id="51" idx="1"/>
            <a:endCxn id="55" idx="0"/>
          </p:cNvCxnSpPr>
          <p:nvPr/>
        </p:nvCxnSpPr>
        <p:spPr>
          <a:xfrm rot="10800000" flipV="1">
            <a:off x="6478744" y="1919119"/>
            <a:ext cx="374542" cy="988794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stCxn id="55" idx="2"/>
            <a:endCxn id="50" idx="0"/>
          </p:cNvCxnSpPr>
          <p:nvPr/>
        </p:nvCxnSpPr>
        <p:spPr>
          <a:xfrm flipH="1">
            <a:off x="6470866" y="3457727"/>
            <a:ext cx="7879" cy="53539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55" idx="3"/>
          </p:cNvCxnSpPr>
          <p:nvPr/>
        </p:nvCxnSpPr>
        <p:spPr>
          <a:xfrm>
            <a:off x="7018839" y="3182821"/>
            <a:ext cx="428883" cy="798014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6472070" y="3457727"/>
            <a:ext cx="1076589" cy="384717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Y / </a:t>
            </a:r>
            <a:r>
              <a:rPr lang="en-US" sz="1000" dirty="0" err="1"/>
              <a:t>Flyback</a:t>
            </a:r>
            <a:r>
              <a:rPr lang="en-US" sz="1000" dirty="0"/>
              <a:t> </a:t>
            </a:r>
          </a:p>
          <a:p>
            <a:r>
              <a:rPr lang="en-US" sz="1000" dirty="0"/>
              <a:t>or ACF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90091" y="2968674"/>
            <a:ext cx="1092912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N / Buck</a:t>
            </a:r>
          </a:p>
        </p:txBody>
      </p:sp>
      <p:sp>
        <p:nvSpPr>
          <p:cNvPr id="62" name="Title 1"/>
          <p:cNvSpPr txBox="1">
            <a:spLocks/>
          </p:cNvSpPr>
          <p:nvPr/>
        </p:nvSpPr>
        <p:spPr bwMode="auto">
          <a:xfrm>
            <a:off x="306761" y="168812"/>
            <a:ext cx="8458200" cy="61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6197" tIns="38098" rIns="76197" bIns="38098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9pPr>
          </a:lstStyle>
          <a:p>
            <a:r>
              <a:rPr lang="en-US" sz="2400" kern="0" dirty="0" err="1"/>
              <a:t>PoE</a:t>
            </a:r>
            <a:r>
              <a:rPr lang="en-US" sz="2400" kern="0" dirty="0"/>
              <a:t> PD Selection Flowchart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0DD552-183D-48CE-A93D-B1206CFFAF9D}"/>
              </a:ext>
            </a:extLst>
          </p:cNvPr>
          <p:cNvSpPr/>
          <p:nvPr/>
        </p:nvSpPr>
        <p:spPr>
          <a:xfrm>
            <a:off x="7018839" y="3842444"/>
            <a:ext cx="1037194" cy="68820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049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F0EB1-EC18-44A3-8866-757D9051E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 selection flowchart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57F4E-ECE8-4EC5-8A73-1CF2D7157C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B97888F-6AF7-4263-B69D-592D8C33BAC7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7" name="Diamond 16">
            <a:extLst>
              <a:ext uri="{FF2B5EF4-FFF2-40B4-BE49-F238E27FC236}">
                <a16:creationId xmlns:a16="http://schemas.microsoft.com/office/drawing/2014/main" id="{BD10D4D1-84C5-48DB-9FD9-F7A8F324E6BE}"/>
              </a:ext>
            </a:extLst>
          </p:cNvPr>
          <p:cNvSpPr/>
          <p:nvPr/>
        </p:nvSpPr>
        <p:spPr>
          <a:xfrm>
            <a:off x="4195558" y="539437"/>
            <a:ext cx="1652823" cy="1041655"/>
          </a:xfrm>
          <a:prstGeom prst="diamond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960" b="1" dirty="0">
                <a:solidFill>
                  <a:schemeClr val="tx1"/>
                </a:solidFill>
              </a:rPr>
              <a:t>Power level &gt; 30 W ?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D566772-DBE9-43A5-BD21-F703E88A1A16}"/>
              </a:ext>
            </a:extLst>
          </p:cNvPr>
          <p:cNvCxnSpPr>
            <a:cxnSpLocks/>
            <a:stCxn id="17" idx="2"/>
            <a:endCxn id="23" idx="0"/>
          </p:cNvCxnSpPr>
          <p:nvPr/>
        </p:nvCxnSpPr>
        <p:spPr>
          <a:xfrm flipH="1">
            <a:off x="2873928" y="1581092"/>
            <a:ext cx="2148042" cy="11416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6325148-D00D-4606-AEF7-95268AF6F033}"/>
              </a:ext>
            </a:extLst>
          </p:cNvPr>
          <p:cNvSpPr txBox="1"/>
          <p:nvPr/>
        </p:nvSpPr>
        <p:spPr>
          <a:xfrm>
            <a:off x="6738744" y="802217"/>
            <a:ext cx="654326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1D834F-2A6C-4C07-BE6E-5AF5069E6640}"/>
              </a:ext>
            </a:extLst>
          </p:cNvPr>
          <p:cNvSpPr txBox="1"/>
          <p:nvPr/>
        </p:nvSpPr>
        <p:spPr>
          <a:xfrm>
            <a:off x="4036833" y="1400898"/>
            <a:ext cx="378239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cxnSp>
        <p:nvCxnSpPr>
          <p:cNvPr id="21" name="Elbow Connector 7">
            <a:extLst>
              <a:ext uri="{FF2B5EF4-FFF2-40B4-BE49-F238E27FC236}">
                <a16:creationId xmlns:a16="http://schemas.microsoft.com/office/drawing/2014/main" id="{48A5C81C-2657-4532-8DB6-9E99F771956B}"/>
              </a:ext>
            </a:extLst>
          </p:cNvPr>
          <p:cNvCxnSpPr>
            <a:cxnSpLocks/>
            <a:stCxn id="17" idx="3"/>
            <a:endCxn id="22" idx="0"/>
          </p:cNvCxnSpPr>
          <p:nvPr/>
        </p:nvCxnSpPr>
        <p:spPr>
          <a:xfrm>
            <a:off x="5848381" y="1060265"/>
            <a:ext cx="2022337" cy="315114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A5B5CC5-5D4B-4A5E-9CEE-CD367E801BFE}"/>
              </a:ext>
            </a:extLst>
          </p:cNvPr>
          <p:cNvSpPr/>
          <p:nvPr/>
        </p:nvSpPr>
        <p:spPr>
          <a:xfrm>
            <a:off x="7122004" y="1375379"/>
            <a:ext cx="1497428" cy="61099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TPS23881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8 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tx1"/>
                </a:solidFill>
              </a:rPr>
              <a:t>FirmPSE</a:t>
            </a:r>
            <a:r>
              <a:rPr lang="en-US" sz="1000" dirty="0">
                <a:solidFill>
                  <a:schemeClr val="tx1"/>
                </a:solidFill>
              </a:rPr>
              <a:t> compatible</a:t>
            </a:r>
          </a:p>
        </p:txBody>
      </p:sp>
      <p:sp>
        <p:nvSpPr>
          <p:cNvPr id="23" name="Diamond 22">
            <a:extLst>
              <a:ext uri="{FF2B5EF4-FFF2-40B4-BE49-F238E27FC236}">
                <a16:creationId xmlns:a16="http://schemas.microsoft.com/office/drawing/2014/main" id="{90614AFA-53D8-47D4-AB8D-1A2899E7D11F}"/>
              </a:ext>
            </a:extLst>
          </p:cNvPr>
          <p:cNvSpPr/>
          <p:nvPr/>
        </p:nvSpPr>
        <p:spPr>
          <a:xfrm>
            <a:off x="2047516" y="1695259"/>
            <a:ext cx="1652823" cy="948762"/>
          </a:xfrm>
          <a:prstGeom prst="diamond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960" b="1" dirty="0">
                <a:solidFill>
                  <a:schemeClr val="tx1"/>
                </a:solidFill>
              </a:rPr>
              <a:t>Need more than 4 channels?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12BE4A-2B4A-4A21-8F88-248C12F88595}"/>
              </a:ext>
            </a:extLst>
          </p:cNvPr>
          <p:cNvSpPr txBox="1"/>
          <p:nvPr/>
        </p:nvSpPr>
        <p:spPr>
          <a:xfrm>
            <a:off x="1309267" y="1938806"/>
            <a:ext cx="654326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NO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1CB8B9-24D6-4DBE-89D2-A4B070A6F89B}"/>
              </a:ext>
            </a:extLst>
          </p:cNvPr>
          <p:cNvSpPr txBox="1"/>
          <p:nvPr/>
        </p:nvSpPr>
        <p:spPr>
          <a:xfrm>
            <a:off x="4001323" y="1938806"/>
            <a:ext cx="654326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YES</a:t>
            </a:r>
          </a:p>
        </p:txBody>
      </p:sp>
      <p:cxnSp>
        <p:nvCxnSpPr>
          <p:cNvPr id="26" name="Elbow Connector 12">
            <a:extLst>
              <a:ext uri="{FF2B5EF4-FFF2-40B4-BE49-F238E27FC236}">
                <a16:creationId xmlns:a16="http://schemas.microsoft.com/office/drawing/2014/main" id="{233351F8-7796-4E8F-8941-1D4BB607CAE1}"/>
              </a:ext>
            </a:extLst>
          </p:cNvPr>
          <p:cNvCxnSpPr>
            <a:cxnSpLocks/>
            <a:stCxn id="23" idx="3"/>
            <a:endCxn id="29" idx="0"/>
          </p:cNvCxnSpPr>
          <p:nvPr/>
        </p:nvCxnSpPr>
        <p:spPr>
          <a:xfrm>
            <a:off x="3700339" y="2169640"/>
            <a:ext cx="799789" cy="364735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13">
            <a:extLst>
              <a:ext uri="{FF2B5EF4-FFF2-40B4-BE49-F238E27FC236}">
                <a16:creationId xmlns:a16="http://schemas.microsoft.com/office/drawing/2014/main" id="{41D62E1B-410B-4EC5-A8B5-48FF6B8C31CD}"/>
              </a:ext>
            </a:extLst>
          </p:cNvPr>
          <p:cNvCxnSpPr>
            <a:cxnSpLocks/>
            <a:stCxn id="23" idx="1"/>
            <a:endCxn id="28" idx="0"/>
          </p:cNvCxnSpPr>
          <p:nvPr/>
        </p:nvCxnSpPr>
        <p:spPr>
          <a:xfrm rot="10800000" flipV="1">
            <a:off x="1243000" y="2169639"/>
            <a:ext cx="804516" cy="952143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C207F0B-1D84-4C13-ACDE-D83C8B4A600E}"/>
              </a:ext>
            </a:extLst>
          </p:cNvPr>
          <p:cNvSpPr/>
          <p:nvPr/>
        </p:nvSpPr>
        <p:spPr>
          <a:xfrm>
            <a:off x="560954" y="3121783"/>
            <a:ext cx="1364091" cy="776821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TPS23861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4 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Autonomous mode included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8ABC06-6BE5-4518-A8C9-E4A6FF2DA557}"/>
              </a:ext>
            </a:extLst>
          </p:cNvPr>
          <p:cNvSpPr/>
          <p:nvPr/>
        </p:nvSpPr>
        <p:spPr>
          <a:xfrm>
            <a:off x="3731017" y="2534375"/>
            <a:ext cx="1538222" cy="58740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TPS23882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8 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tx1"/>
                </a:solidFill>
              </a:rPr>
              <a:t>FirmPSE</a:t>
            </a:r>
            <a:r>
              <a:rPr lang="en-US" sz="1000" dirty="0">
                <a:solidFill>
                  <a:schemeClr val="tx1"/>
                </a:solidFill>
              </a:rPr>
              <a:t> compatible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C454F30-B82F-45FE-BC34-CBC38600ED35}"/>
              </a:ext>
            </a:extLst>
          </p:cNvPr>
          <p:cNvSpPr/>
          <p:nvPr/>
        </p:nvSpPr>
        <p:spPr>
          <a:xfrm>
            <a:off x="3731018" y="3430773"/>
            <a:ext cx="1538221" cy="101202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TPS23882B1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8 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tx1"/>
                </a:solidFill>
              </a:rPr>
              <a:t>FirmPSE</a:t>
            </a:r>
            <a:r>
              <a:rPr lang="en-US" sz="1000" dirty="0">
                <a:solidFill>
                  <a:schemeClr val="tx1"/>
                </a:solidFill>
              </a:rPr>
              <a:t> compatible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Autonomous mode included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9D662A-0D96-4AF2-A23A-AD4E1F216717}"/>
              </a:ext>
            </a:extLst>
          </p:cNvPr>
          <p:cNvSpPr txBox="1"/>
          <p:nvPr/>
        </p:nvSpPr>
        <p:spPr>
          <a:xfrm>
            <a:off x="4318010" y="3160861"/>
            <a:ext cx="654326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b="1" dirty="0"/>
              <a:t>OR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C1BF982-5351-409F-B1D4-1CC1726A6392}"/>
              </a:ext>
            </a:extLst>
          </p:cNvPr>
          <p:cNvSpPr txBox="1"/>
          <p:nvPr/>
        </p:nvSpPr>
        <p:spPr>
          <a:xfrm>
            <a:off x="5674658" y="3041009"/>
            <a:ext cx="2782498" cy="156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u="sng" dirty="0"/>
              <a:t>Autonomous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 host controller or system software needed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Best for systems where supply can support all ports on max load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A2CF1C6-522B-4243-BE0F-E9DF2A4FB66A}"/>
              </a:ext>
            </a:extLst>
          </p:cNvPr>
          <p:cNvSpPr/>
          <p:nvPr/>
        </p:nvSpPr>
        <p:spPr>
          <a:xfrm>
            <a:off x="7109802" y="2340423"/>
            <a:ext cx="1497428" cy="61099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</a:rPr>
              <a:t>TPS23881B1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8 channel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solidFill>
                  <a:schemeClr val="tx1"/>
                </a:solidFill>
              </a:rPr>
              <a:t>FirmPSE</a:t>
            </a:r>
            <a:r>
              <a:rPr lang="en-US" sz="1000" dirty="0">
                <a:solidFill>
                  <a:schemeClr val="tx1"/>
                </a:solidFill>
              </a:rPr>
              <a:t> compatible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Autonomous mode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103E626-2EA0-43ED-BFBA-EB92E551E565}"/>
              </a:ext>
            </a:extLst>
          </p:cNvPr>
          <p:cNvSpPr txBox="1"/>
          <p:nvPr/>
        </p:nvSpPr>
        <p:spPr>
          <a:xfrm>
            <a:off x="7651760" y="2070653"/>
            <a:ext cx="654326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b="1" dirty="0"/>
              <a:t>OR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AFE0B2-4FBD-463D-AE05-3AB28FC18381}"/>
              </a:ext>
            </a:extLst>
          </p:cNvPr>
          <p:cNvSpPr/>
          <p:nvPr/>
        </p:nvSpPr>
        <p:spPr>
          <a:xfrm>
            <a:off x="7287830" y="123109"/>
            <a:ext cx="205170" cy="20709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BD011C4-D00F-4D6D-A67F-AF22C9CA7DFC}"/>
              </a:ext>
            </a:extLst>
          </p:cNvPr>
          <p:cNvSpPr/>
          <p:nvPr/>
        </p:nvSpPr>
        <p:spPr>
          <a:xfrm>
            <a:off x="7287830" y="389412"/>
            <a:ext cx="205170" cy="20709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0440B6-FC29-443A-9F64-5975639BF66F}"/>
              </a:ext>
            </a:extLst>
          </p:cNvPr>
          <p:cNvSpPr txBox="1"/>
          <p:nvPr/>
        </p:nvSpPr>
        <p:spPr>
          <a:xfrm>
            <a:off x="7531353" y="122099"/>
            <a:ext cx="654326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 err="1"/>
              <a:t>RTM’d</a:t>
            </a:r>
            <a:endParaRPr 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4556E22-FC06-4505-BFC4-18E9EEBC611D}"/>
              </a:ext>
            </a:extLst>
          </p:cNvPr>
          <p:cNvSpPr txBox="1"/>
          <p:nvPr/>
        </p:nvSpPr>
        <p:spPr>
          <a:xfrm>
            <a:off x="7525532" y="363290"/>
            <a:ext cx="1231118" cy="230828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In development</a:t>
            </a:r>
          </a:p>
        </p:txBody>
      </p:sp>
    </p:spTree>
    <p:extLst>
      <p:ext uri="{BB962C8B-B14F-4D97-AF65-F5344CB8AC3E}">
        <p14:creationId xmlns:p14="http://schemas.microsoft.com/office/powerpoint/2010/main" val="1968993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701926E1-F09A-4917-9D7A-F9BBA8A3A048}"/>
              </a:ext>
            </a:extLst>
          </p:cNvPr>
          <p:cNvSpPr/>
          <p:nvPr/>
        </p:nvSpPr>
        <p:spPr>
          <a:xfrm>
            <a:off x="5131736" y="919675"/>
            <a:ext cx="1894055" cy="28166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2874347-01E7-4EBE-A83F-AB6B822C4BCB}"/>
              </a:ext>
            </a:extLst>
          </p:cNvPr>
          <p:cNvSpPr/>
          <p:nvPr/>
        </p:nvSpPr>
        <p:spPr>
          <a:xfrm>
            <a:off x="1458478" y="886720"/>
            <a:ext cx="1894055" cy="28166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6642366" y="4537604"/>
            <a:ext cx="2133864" cy="154782"/>
          </a:xfrm>
          <a:prstGeom prst="rect">
            <a:avLst/>
          </a:prstGeom>
        </p:spPr>
        <p:txBody>
          <a:bodyPr lIns="76197" tIns="38098" rIns="76197" bIns="38098"/>
          <a:lstStyle/>
          <a:p>
            <a:pPr>
              <a:defRPr/>
            </a:pPr>
            <a:fld id="{1D196CC5-248C-4C56-87E0-39FA3BD93E1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17" name="Title 1"/>
          <p:cNvSpPr txBox="1">
            <a:spLocks/>
          </p:cNvSpPr>
          <p:nvPr/>
        </p:nvSpPr>
        <p:spPr bwMode="auto">
          <a:xfrm>
            <a:off x="305632" y="-85901"/>
            <a:ext cx="6410335" cy="1102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6197" tIns="38098" rIns="76197" bIns="38098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9pPr>
          </a:lstStyle>
          <a:p>
            <a:r>
              <a:rPr lang="en-US" sz="3000" kern="0" dirty="0"/>
              <a:t>PD Featured Reference Designs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3DB6386-3C72-4B5A-81F5-06D7D15AFC4A}"/>
              </a:ext>
            </a:extLst>
          </p:cNvPr>
          <p:cNvCxnSpPr>
            <a:cxnSpLocks/>
          </p:cNvCxnSpPr>
          <p:nvPr/>
        </p:nvCxnSpPr>
        <p:spPr>
          <a:xfrm flipV="1">
            <a:off x="1460762" y="905719"/>
            <a:ext cx="0" cy="2806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D309208-88F3-4F9D-A46A-8E9320C72C51}"/>
              </a:ext>
            </a:extLst>
          </p:cNvPr>
          <p:cNvCxnSpPr>
            <a:cxnSpLocks/>
          </p:cNvCxnSpPr>
          <p:nvPr/>
        </p:nvCxnSpPr>
        <p:spPr>
          <a:xfrm>
            <a:off x="1460762" y="3712419"/>
            <a:ext cx="697507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15D8F05-D0D3-4706-A0DE-B426C735CCB6}"/>
              </a:ext>
            </a:extLst>
          </p:cNvPr>
          <p:cNvCxnSpPr>
            <a:cxnSpLocks/>
          </p:cNvCxnSpPr>
          <p:nvPr/>
        </p:nvCxnSpPr>
        <p:spPr>
          <a:xfrm>
            <a:off x="1460762" y="3135689"/>
            <a:ext cx="618489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9E7B3CA-FE28-4AD9-8A7D-6729CD5EF6A0}"/>
              </a:ext>
            </a:extLst>
          </p:cNvPr>
          <p:cNvCxnSpPr>
            <a:cxnSpLocks/>
          </p:cNvCxnSpPr>
          <p:nvPr/>
        </p:nvCxnSpPr>
        <p:spPr>
          <a:xfrm>
            <a:off x="1281495" y="2267240"/>
            <a:ext cx="6364161" cy="6717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6EF92DB-F87B-4455-94E2-03C9697747BE}"/>
              </a:ext>
            </a:extLst>
          </p:cNvPr>
          <p:cNvCxnSpPr>
            <a:cxnSpLocks/>
          </p:cNvCxnSpPr>
          <p:nvPr/>
        </p:nvCxnSpPr>
        <p:spPr>
          <a:xfrm>
            <a:off x="1460762" y="1396536"/>
            <a:ext cx="6184894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F9E0A2E-3229-444D-8597-BCC26D766308}"/>
              </a:ext>
            </a:extLst>
          </p:cNvPr>
          <p:cNvSpPr txBox="1"/>
          <p:nvPr/>
        </p:nvSpPr>
        <p:spPr>
          <a:xfrm>
            <a:off x="892213" y="3303639"/>
            <a:ext cx="654326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13 W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E9D1DC-1149-4944-AC4B-91054132FA30}"/>
              </a:ext>
            </a:extLst>
          </p:cNvPr>
          <p:cNvSpPr txBox="1"/>
          <p:nvPr/>
        </p:nvSpPr>
        <p:spPr>
          <a:xfrm>
            <a:off x="889268" y="1716439"/>
            <a:ext cx="654326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51 W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6C6204A-2E09-4151-92A6-BAD30551CCA3}"/>
              </a:ext>
            </a:extLst>
          </p:cNvPr>
          <p:cNvSpPr txBox="1"/>
          <p:nvPr/>
        </p:nvSpPr>
        <p:spPr>
          <a:xfrm>
            <a:off x="889268" y="995199"/>
            <a:ext cx="654326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71 W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34A65E4-B870-4571-84FC-EF2C0C59D452}"/>
              </a:ext>
            </a:extLst>
          </p:cNvPr>
          <p:cNvSpPr txBox="1"/>
          <p:nvPr/>
        </p:nvSpPr>
        <p:spPr>
          <a:xfrm>
            <a:off x="892213" y="2551528"/>
            <a:ext cx="654326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25 W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A4D371-51FF-43D9-A751-0BC13E821AA1}"/>
              </a:ext>
            </a:extLst>
          </p:cNvPr>
          <p:cNvSpPr txBox="1"/>
          <p:nvPr/>
        </p:nvSpPr>
        <p:spPr>
          <a:xfrm>
            <a:off x="4119823" y="3770692"/>
            <a:ext cx="368764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5 V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D2CCD3E-1060-4EE9-B191-98775550CE6A}"/>
              </a:ext>
            </a:extLst>
          </p:cNvPr>
          <p:cNvSpPr txBox="1"/>
          <p:nvPr/>
        </p:nvSpPr>
        <p:spPr>
          <a:xfrm>
            <a:off x="5757103" y="3766086"/>
            <a:ext cx="654326" cy="230833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 12 V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A84AE5-9B30-4AD3-805A-9EDE30890CFC}"/>
              </a:ext>
            </a:extLst>
          </p:cNvPr>
          <p:cNvSpPr txBox="1"/>
          <p:nvPr/>
        </p:nvSpPr>
        <p:spPr>
          <a:xfrm rot="16200000">
            <a:off x="-582028" y="2210949"/>
            <a:ext cx="2052177" cy="230828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Powered device (PD) input power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C713C41-4B21-4671-AA9F-E03452A40C95}"/>
              </a:ext>
            </a:extLst>
          </p:cNvPr>
          <p:cNvSpPr txBox="1"/>
          <p:nvPr/>
        </p:nvSpPr>
        <p:spPr>
          <a:xfrm>
            <a:off x="3963018" y="3920301"/>
            <a:ext cx="1289681" cy="230828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Output voltage level</a:t>
            </a:r>
          </a:p>
        </p:txBody>
      </p:sp>
      <p:sp>
        <p:nvSpPr>
          <p:cNvPr id="49" name="Rectangle 48">
            <a:hlinkClick r:id="rId2"/>
            <a:extLst>
              <a:ext uri="{FF2B5EF4-FFF2-40B4-BE49-F238E27FC236}">
                <a16:creationId xmlns:a16="http://schemas.microsoft.com/office/drawing/2014/main" id="{7D63B22D-CECE-46B6-9A80-F4308B280487}"/>
              </a:ext>
            </a:extLst>
          </p:cNvPr>
          <p:cNvSpPr/>
          <p:nvPr/>
        </p:nvSpPr>
        <p:spPr>
          <a:xfrm>
            <a:off x="3635879" y="935213"/>
            <a:ext cx="1336651" cy="29942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TPS2373-4EVM-758</a:t>
            </a:r>
          </a:p>
        </p:txBody>
      </p:sp>
      <p:sp>
        <p:nvSpPr>
          <p:cNvPr id="60" name="Rectangle 59">
            <a:hlinkClick r:id="rId3"/>
            <a:extLst>
              <a:ext uri="{FF2B5EF4-FFF2-40B4-BE49-F238E27FC236}">
                <a16:creationId xmlns:a16="http://schemas.microsoft.com/office/drawing/2014/main" id="{AF84C49E-1E3E-431F-A86A-E8863640A3A3}"/>
              </a:ext>
            </a:extLst>
          </p:cNvPr>
          <p:cNvSpPr/>
          <p:nvPr/>
        </p:nvSpPr>
        <p:spPr>
          <a:xfrm>
            <a:off x="3636750" y="3241871"/>
            <a:ext cx="1336651" cy="29942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TPS23758EVM-080</a:t>
            </a:r>
          </a:p>
        </p:txBody>
      </p:sp>
      <p:sp>
        <p:nvSpPr>
          <p:cNvPr id="61" name="Rectangle 60">
            <a:hlinkClick r:id="rId4"/>
            <a:extLst>
              <a:ext uri="{FF2B5EF4-FFF2-40B4-BE49-F238E27FC236}">
                <a16:creationId xmlns:a16="http://schemas.microsoft.com/office/drawing/2014/main" id="{B37E45F2-31FE-4383-A9CD-044CD1AF7D1C}"/>
              </a:ext>
            </a:extLst>
          </p:cNvPr>
          <p:cNvSpPr/>
          <p:nvPr/>
        </p:nvSpPr>
        <p:spPr>
          <a:xfrm>
            <a:off x="3630092" y="2721709"/>
            <a:ext cx="1336651" cy="2994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TPS23731EVM-095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Synchronous </a:t>
            </a:r>
            <a:r>
              <a:rPr lang="en-US" sz="1000" dirty="0" err="1">
                <a:solidFill>
                  <a:schemeClr val="tx1"/>
                </a:solidFill>
              </a:rPr>
              <a:t>flyback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2" name="Rectangle 61">
            <a:hlinkClick r:id="rId5"/>
            <a:extLst>
              <a:ext uri="{FF2B5EF4-FFF2-40B4-BE49-F238E27FC236}">
                <a16:creationId xmlns:a16="http://schemas.microsoft.com/office/drawing/2014/main" id="{F73621B0-3157-4518-B543-A6A635796878}"/>
              </a:ext>
            </a:extLst>
          </p:cNvPr>
          <p:cNvSpPr/>
          <p:nvPr/>
        </p:nvSpPr>
        <p:spPr>
          <a:xfrm>
            <a:off x="3636431" y="2353970"/>
            <a:ext cx="1336651" cy="2994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TPS23734EVM-094</a:t>
            </a:r>
          </a:p>
        </p:txBody>
      </p:sp>
      <p:sp>
        <p:nvSpPr>
          <p:cNvPr id="63" name="Rectangle 62">
            <a:hlinkClick r:id="rId6"/>
            <a:extLst>
              <a:ext uri="{FF2B5EF4-FFF2-40B4-BE49-F238E27FC236}">
                <a16:creationId xmlns:a16="http://schemas.microsoft.com/office/drawing/2014/main" id="{A43AE85E-924F-423A-92A2-56210655C2EB}"/>
              </a:ext>
            </a:extLst>
          </p:cNvPr>
          <p:cNvSpPr/>
          <p:nvPr/>
        </p:nvSpPr>
        <p:spPr>
          <a:xfrm>
            <a:off x="3635879" y="1678319"/>
            <a:ext cx="1336651" cy="29942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TIDA-050045 ACF</a:t>
            </a:r>
          </a:p>
        </p:txBody>
      </p:sp>
      <p:sp>
        <p:nvSpPr>
          <p:cNvPr id="64" name="Rectangle 63">
            <a:hlinkClick r:id="rId7"/>
            <a:extLst>
              <a:ext uri="{FF2B5EF4-FFF2-40B4-BE49-F238E27FC236}">
                <a16:creationId xmlns:a16="http://schemas.microsoft.com/office/drawing/2014/main" id="{52A707C2-BB76-4CC9-A3EE-7330AC4CF28D}"/>
              </a:ext>
            </a:extLst>
          </p:cNvPr>
          <p:cNvSpPr/>
          <p:nvPr/>
        </p:nvSpPr>
        <p:spPr>
          <a:xfrm>
            <a:off x="5408994" y="2715920"/>
            <a:ext cx="1336651" cy="2994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PMP22806</a:t>
            </a:r>
          </a:p>
        </p:txBody>
      </p:sp>
      <p:sp>
        <p:nvSpPr>
          <p:cNvPr id="65" name="Rectangle 64">
            <a:hlinkClick r:id="rId8"/>
            <a:extLst>
              <a:ext uri="{FF2B5EF4-FFF2-40B4-BE49-F238E27FC236}">
                <a16:creationId xmlns:a16="http://schemas.microsoft.com/office/drawing/2014/main" id="{C9F376C2-150F-40E2-B44C-39B50A0392F1}"/>
              </a:ext>
            </a:extLst>
          </p:cNvPr>
          <p:cNvSpPr/>
          <p:nvPr/>
        </p:nvSpPr>
        <p:spPr>
          <a:xfrm>
            <a:off x="5408993" y="3241871"/>
            <a:ext cx="1336651" cy="29942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TPS23755EVM-894</a:t>
            </a:r>
          </a:p>
        </p:txBody>
      </p:sp>
      <p:sp>
        <p:nvSpPr>
          <p:cNvPr id="68" name="Rectangle 67">
            <a:hlinkClick r:id="rId9"/>
            <a:extLst>
              <a:ext uri="{FF2B5EF4-FFF2-40B4-BE49-F238E27FC236}">
                <a16:creationId xmlns:a16="http://schemas.microsoft.com/office/drawing/2014/main" id="{36A38C26-A615-427A-9AA5-99849E5018A5}"/>
              </a:ext>
            </a:extLst>
          </p:cNvPr>
          <p:cNvSpPr/>
          <p:nvPr/>
        </p:nvSpPr>
        <p:spPr>
          <a:xfrm>
            <a:off x="5408995" y="2355215"/>
            <a:ext cx="1336651" cy="2994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TPS23754EVM-383</a:t>
            </a:r>
          </a:p>
        </p:txBody>
      </p:sp>
      <p:sp>
        <p:nvSpPr>
          <p:cNvPr id="69" name="Rectangle 68">
            <a:hlinkClick r:id="rId10"/>
            <a:extLst>
              <a:ext uri="{FF2B5EF4-FFF2-40B4-BE49-F238E27FC236}">
                <a16:creationId xmlns:a16="http://schemas.microsoft.com/office/drawing/2014/main" id="{18603708-C026-48E0-A1B6-D0B252FB51CC}"/>
              </a:ext>
            </a:extLst>
          </p:cNvPr>
          <p:cNvSpPr/>
          <p:nvPr/>
        </p:nvSpPr>
        <p:spPr>
          <a:xfrm>
            <a:off x="5408991" y="1843652"/>
            <a:ext cx="1336651" cy="2994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PMP22477</a:t>
            </a:r>
          </a:p>
        </p:txBody>
      </p:sp>
      <p:sp>
        <p:nvSpPr>
          <p:cNvPr id="70" name="Rectangle 69">
            <a:hlinkClick r:id="rId11"/>
            <a:extLst>
              <a:ext uri="{FF2B5EF4-FFF2-40B4-BE49-F238E27FC236}">
                <a16:creationId xmlns:a16="http://schemas.microsoft.com/office/drawing/2014/main" id="{86EBDBC2-E267-4B01-9ECD-C0F1FC7EEDC4}"/>
              </a:ext>
            </a:extLst>
          </p:cNvPr>
          <p:cNvSpPr/>
          <p:nvPr/>
        </p:nvSpPr>
        <p:spPr>
          <a:xfrm>
            <a:off x="5408992" y="1488426"/>
            <a:ext cx="1336651" cy="29942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TPS23730EVM-093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9264B6D-A943-4B28-B296-258FEB89B20C}"/>
              </a:ext>
            </a:extLst>
          </p:cNvPr>
          <p:cNvSpPr/>
          <p:nvPr/>
        </p:nvSpPr>
        <p:spPr>
          <a:xfrm>
            <a:off x="2918177" y="4265768"/>
            <a:ext cx="220285" cy="2166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AAAAAA"/>
                </a:solidFill>
              </a:ln>
              <a:solidFill>
                <a:srgbClr val="AAAAAA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2CB988C-423E-47FA-8FCB-1785B85688C0}"/>
              </a:ext>
            </a:extLst>
          </p:cNvPr>
          <p:cNvSpPr/>
          <p:nvPr/>
        </p:nvSpPr>
        <p:spPr>
          <a:xfrm>
            <a:off x="5392594" y="4258662"/>
            <a:ext cx="220285" cy="21661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AAAAAA"/>
                </a:solidFill>
              </a:ln>
              <a:solidFill>
                <a:srgbClr val="AAAAAA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89547B0B-797E-44B7-A5CA-2E9E2E3D9DB1}"/>
              </a:ext>
            </a:extLst>
          </p:cNvPr>
          <p:cNvSpPr/>
          <p:nvPr/>
        </p:nvSpPr>
        <p:spPr>
          <a:xfrm>
            <a:off x="4027602" y="4265768"/>
            <a:ext cx="220285" cy="2166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AAAAAA"/>
                </a:solidFill>
              </a:ln>
              <a:solidFill>
                <a:srgbClr val="AAAAAA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7F15E49-F952-4379-BB45-C365D8FB5F8E}"/>
              </a:ext>
            </a:extLst>
          </p:cNvPr>
          <p:cNvSpPr txBox="1"/>
          <p:nvPr/>
        </p:nvSpPr>
        <p:spPr>
          <a:xfrm>
            <a:off x="5662897" y="4257834"/>
            <a:ext cx="1082749" cy="230828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Cost Optimized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53CE00E-5514-4976-A15C-9BBD54FFA468}"/>
              </a:ext>
            </a:extLst>
          </p:cNvPr>
          <p:cNvSpPr txBox="1"/>
          <p:nvPr/>
        </p:nvSpPr>
        <p:spPr>
          <a:xfrm>
            <a:off x="4284208" y="4258662"/>
            <a:ext cx="1001918" cy="230828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High Efficiency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06A912B-5FDE-4542-BE7D-1AB069341880}"/>
              </a:ext>
            </a:extLst>
          </p:cNvPr>
          <p:cNvSpPr txBox="1"/>
          <p:nvPr/>
        </p:nvSpPr>
        <p:spPr>
          <a:xfrm>
            <a:off x="3174783" y="4258662"/>
            <a:ext cx="729682" cy="230828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Standard</a:t>
            </a:r>
          </a:p>
        </p:txBody>
      </p:sp>
      <p:sp>
        <p:nvSpPr>
          <p:cNvPr id="38" name="Rectangle 37">
            <a:hlinkClick r:id="rId12"/>
            <a:extLst>
              <a:ext uri="{FF2B5EF4-FFF2-40B4-BE49-F238E27FC236}">
                <a16:creationId xmlns:a16="http://schemas.microsoft.com/office/drawing/2014/main" id="{C7005018-F8FA-4E50-93F2-23E568D8AE4F}"/>
              </a:ext>
            </a:extLst>
          </p:cNvPr>
          <p:cNvSpPr/>
          <p:nvPr/>
        </p:nvSpPr>
        <p:spPr>
          <a:xfrm>
            <a:off x="5392594" y="942891"/>
            <a:ext cx="1336651" cy="2994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PMP21318</a:t>
            </a:r>
          </a:p>
        </p:txBody>
      </p:sp>
      <p:sp>
        <p:nvSpPr>
          <p:cNvPr id="52" name="TextBox 51">
            <a:hlinkClick r:id="rId13"/>
            <a:extLst>
              <a:ext uri="{FF2B5EF4-FFF2-40B4-BE49-F238E27FC236}">
                <a16:creationId xmlns:a16="http://schemas.microsoft.com/office/drawing/2014/main" id="{CE560AD1-CF3D-4871-824B-5909D55A99EF}"/>
              </a:ext>
            </a:extLst>
          </p:cNvPr>
          <p:cNvSpPr txBox="1"/>
          <p:nvPr/>
        </p:nvSpPr>
        <p:spPr>
          <a:xfrm>
            <a:off x="3211907" y="4729341"/>
            <a:ext cx="2792947" cy="346180"/>
          </a:xfrm>
          <a:prstGeom prst="rect">
            <a:avLst/>
          </a:prstGeom>
          <a:noFill/>
        </p:spPr>
        <p:txBody>
          <a:bodyPr wrap="none" lIns="68518" tIns="34256" rIns="68518" bIns="34256" rtlCol="0">
            <a:spAutoFit/>
          </a:bodyPr>
          <a:lstStyle/>
          <a:p>
            <a:r>
              <a:rPr lang="en-US" u="sng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Find interactive table here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4FE792A-9D0D-4528-B313-4CA190DFB53E}"/>
              </a:ext>
            </a:extLst>
          </p:cNvPr>
          <p:cNvSpPr txBox="1"/>
          <p:nvPr/>
        </p:nvSpPr>
        <p:spPr>
          <a:xfrm>
            <a:off x="2181179" y="3764055"/>
            <a:ext cx="448651" cy="230828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3.3 V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137781-CFB2-4E69-B7B2-9542628EAA62}"/>
              </a:ext>
            </a:extLst>
          </p:cNvPr>
          <p:cNvSpPr txBox="1"/>
          <p:nvPr/>
        </p:nvSpPr>
        <p:spPr>
          <a:xfrm>
            <a:off x="7789731" y="3766086"/>
            <a:ext cx="561153" cy="230828"/>
          </a:xfrm>
          <a:prstGeom prst="rect">
            <a:avLst/>
          </a:prstGeom>
          <a:noFill/>
        </p:spPr>
        <p:txBody>
          <a:bodyPr wrap="square" lIns="76197" tIns="38098" rIns="76197" bIns="38098" rtlCol="0">
            <a:spAutoFit/>
          </a:bodyPr>
          <a:lstStyle/>
          <a:p>
            <a:r>
              <a:rPr lang="en-US" sz="1000" dirty="0"/>
              <a:t>&gt; 12 V</a:t>
            </a:r>
          </a:p>
        </p:txBody>
      </p:sp>
      <p:sp>
        <p:nvSpPr>
          <p:cNvPr id="57" name="Rectangle 56">
            <a:hlinkClick r:id="rId14"/>
            <a:extLst>
              <a:ext uri="{FF2B5EF4-FFF2-40B4-BE49-F238E27FC236}">
                <a16:creationId xmlns:a16="http://schemas.microsoft.com/office/drawing/2014/main" id="{416D8C28-445F-4E7E-AC66-2D5470226A5C}"/>
              </a:ext>
            </a:extLst>
          </p:cNvPr>
          <p:cNvSpPr/>
          <p:nvPr/>
        </p:nvSpPr>
        <p:spPr>
          <a:xfrm>
            <a:off x="7239659" y="942890"/>
            <a:ext cx="1336651" cy="29942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PMP20878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ACF</a:t>
            </a:r>
          </a:p>
        </p:txBody>
      </p:sp>
      <p:sp>
        <p:nvSpPr>
          <p:cNvPr id="58" name="Rectangle 57">
            <a:hlinkClick r:id="rId15"/>
            <a:extLst>
              <a:ext uri="{FF2B5EF4-FFF2-40B4-BE49-F238E27FC236}">
                <a16:creationId xmlns:a16="http://schemas.microsoft.com/office/drawing/2014/main" id="{E6759338-79B7-488A-96B0-15DA9A74F836}"/>
              </a:ext>
            </a:extLst>
          </p:cNvPr>
          <p:cNvSpPr/>
          <p:nvPr/>
        </p:nvSpPr>
        <p:spPr>
          <a:xfrm>
            <a:off x="7239658" y="1677688"/>
            <a:ext cx="1336651" cy="29942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TIDA-00539</a:t>
            </a:r>
          </a:p>
          <a:p>
            <a:pPr algn="ctr"/>
            <a:r>
              <a:rPr lang="en-US" sz="1000" dirty="0" err="1">
                <a:solidFill>
                  <a:schemeClr val="tx1"/>
                </a:solidFill>
              </a:rPr>
              <a:t>Flyback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59" name="Rectangle 58">
            <a:hlinkClick r:id="rId16"/>
            <a:extLst>
              <a:ext uri="{FF2B5EF4-FFF2-40B4-BE49-F238E27FC236}">
                <a16:creationId xmlns:a16="http://schemas.microsoft.com/office/drawing/2014/main" id="{F03563A3-B2F4-4D3D-8965-A601BF531390}"/>
              </a:ext>
            </a:extLst>
          </p:cNvPr>
          <p:cNvSpPr/>
          <p:nvPr/>
        </p:nvSpPr>
        <p:spPr>
          <a:xfrm>
            <a:off x="7239659" y="2515231"/>
            <a:ext cx="1336651" cy="29942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PMP22301</a:t>
            </a:r>
          </a:p>
          <a:p>
            <a:pPr algn="ctr"/>
            <a:r>
              <a:rPr lang="en-US" sz="1000" dirty="0" err="1">
                <a:solidFill>
                  <a:schemeClr val="tx1"/>
                </a:solidFill>
              </a:rPr>
              <a:t>Flyback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66" name="Rectangle 65">
            <a:hlinkClick r:id="rId17"/>
            <a:extLst>
              <a:ext uri="{FF2B5EF4-FFF2-40B4-BE49-F238E27FC236}">
                <a16:creationId xmlns:a16="http://schemas.microsoft.com/office/drawing/2014/main" id="{B9A7C0C9-D65C-4F10-A17A-7FE613681676}"/>
              </a:ext>
            </a:extLst>
          </p:cNvPr>
          <p:cNvSpPr/>
          <p:nvPr/>
        </p:nvSpPr>
        <p:spPr>
          <a:xfrm>
            <a:off x="1738022" y="2349949"/>
            <a:ext cx="1336651" cy="29942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PMP7452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ACF</a:t>
            </a:r>
          </a:p>
        </p:txBody>
      </p:sp>
      <p:sp>
        <p:nvSpPr>
          <p:cNvPr id="67" name="Rectangle 66">
            <a:hlinkClick r:id="rId18"/>
            <a:extLst>
              <a:ext uri="{FF2B5EF4-FFF2-40B4-BE49-F238E27FC236}">
                <a16:creationId xmlns:a16="http://schemas.microsoft.com/office/drawing/2014/main" id="{4176E5C9-7CD6-43BF-82FF-786E3EA3AD9B}"/>
              </a:ext>
            </a:extLst>
          </p:cNvPr>
          <p:cNvSpPr/>
          <p:nvPr/>
        </p:nvSpPr>
        <p:spPr>
          <a:xfrm>
            <a:off x="1732748" y="2718424"/>
            <a:ext cx="1336651" cy="29942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PMP10288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ACF</a:t>
            </a:r>
          </a:p>
        </p:txBody>
      </p:sp>
      <p:sp>
        <p:nvSpPr>
          <p:cNvPr id="71" name="Rectangle 70">
            <a:hlinkClick r:id="rId19"/>
            <a:extLst>
              <a:ext uri="{FF2B5EF4-FFF2-40B4-BE49-F238E27FC236}">
                <a16:creationId xmlns:a16="http://schemas.microsoft.com/office/drawing/2014/main" id="{DCC6C685-82C1-4630-B80E-DCC796F63CD1}"/>
              </a:ext>
            </a:extLst>
          </p:cNvPr>
          <p:cNvSpPr/>
          <p:nvPr/>
        </p:nvSpPr>
        <p:spPr>
          <a:xfrm>
            <a:off x="1738022" y="3244936"/>
            <a:ext cx="1336651" cy="2994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TPS23753AEVM-004 </a:t>
            </a:r>
            <a:r>
              <a:rPr lang="en-US" sz="1000" dirty="0" err="1">
                <a:solidFill>
                  <a:schemeClr val="tx1"/>
                </a:solidFill>
              </a:rPr>
              <a:t>Flyback</a:t>
            </a:r>
            <a:endParaRPr 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320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66D4A3-D20E-4E5C-9C1B-85DF3D5DF3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Passthrough (Daisy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2416F-0250-40C0-AEAB-13943F11D0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363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PoE Daisy-Chaining Overview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382" y="590410"/>
            <a:ext cx="8467725" cy="3709449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IoT end equipment have been focused on solving system level solutions. For example, WAPs that can power IP cameras. Or lighting systems with people counting sensors.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100m of CAT5e cable may not be long enough to deliver both data and power to end equipment.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PoE daisy chaining can help solve this these issues by chaining multiple PDs that have different functionalities and daisy chaining helps extend the </a:t>
            </a:r>
            <a:r>
              <a:rPr lang="en-US" sz="1600" dirty="0" err="1"/>
              <a:t>ethernet</a:t>
            </a:r>
            <a:r>
              <a:rPr lang="en-US" sz="1600" dirty="0"/>
              <a:t> cable length past 100m.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The current PoE standard limits power level and so limits daisy chaining capabilities. However the new IEEE802.3bt standard will increase power levels and help enable these solutions.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Key considerations are maintaining interoperability using TI’s IEEE802.3bt ICs and understanding the power distribution is a PoE system.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8096A3-1C74-4210-9B46-F757C8F29AA0}" type="slidenum">
              <a:rPr lang="en-US" sz="600" smtClean="0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sz="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802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 err="1"/>
              <a:t>PoE</a:t>
            </a:r>
            <a:r>
              <a:rPr lang="en-US" sz="2000" dirty="0"/>
              <a:t> Pass-Through Applications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382" y="590410"/>
            <a:ext cx="8467725" cy="3709449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Wireless Access Points</a:t>
            </a:r>
          </a:p>
          <a:p>
            <a:pPr marL="0" indent="0">
              <a:buNone/>
            </a:pPr>
            <a:r>
              <a:rPr lang="en-US" sz="1600" dirty="0"/>
              <a:t>Smart Parking Garages</a:t>
            </a:r>
          </a:p>
          <a:p>
            <a:pPr marL="0" indent="0">
              <a:buNone/>
            </a:pPr>
            <a:r>
              <a:rPr lang="en-US" sz="1600" dirty="0"/>
              <a:t>Audio Belt Packs</a:t>
            </a:r>
          </a:p>
          <a:p>
            <a:pPr marL="0" indent="0">
              <a:buNone/>
            </a:pPr>
            <a:r>
              <a:rPr lang="en-US" sz="1600" dirty="0"/>
              <a:t>Enterprise switch Adapters</a:t>
            </a:r>
          </a:p>
          <a:p>
            <a:pPr marL="0" indent="0">
              <a:buNone/>
            </a:pPr>
            <a:r>
              <a:rPr lang="en-US" sz="1600" dirty="0"/>
              <a:t>Conference Room Hubs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8096A3-1C74-4210-9B46-F757C8F29AA0}" type="slidenum">
              <a:rPr lang="en-US" sz="600" smtClean="0">
                <a:solidFill>
                  <a:srgbClr val="000000"/>
                </a:solidFill>
              </a:rPr>
              <a:pPr>
                <a:defRPr/>
              </a:pPr>
              <a:t>9</a:t>
            </a:fld>
            <a:endParaRPr lang="en-US" sz="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897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968" y="274524"/>
            <a:ext cx="8458200" cy="610791"/>
          </a:xfrm>
        </p:spPr>
        <p:txBody>
          <a:bodyPr/>
          <a:lstStyle/>
          <a:p>
            <a:r>
              <a:rPr lang="en-US" dirty="0"/>
              <a:t>High Level Block Diagram: </a:t>
            </a:r>
            <a:r>
              <a:rPr lang="en-US" dirty="0" err="1"/>
              <a:t>PoE</a:t>
            </a:r>
            <a:r>
              <a:rPr lang="en-US" dirty="0"/>
              <a:t> Pass-through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963611" y="1329772"/>
            <a:ext cx="1000370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466983" y="1325866"/>
            <a:ext cx="1000370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545549" y="1415745"/>
            <a:ext cx="89629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PD</a:t>
            </a:r>
          </a:p>
          <a:p>
            <a:pPr algn="ctr"/>
            <a:r>
              <a:rPr lang="en-US" sz="1100" dirty="0"/>
              <a:t>TPS2372-3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34191" y="1419651"/>
            <a:ext cx="102979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PSE</a:t>
            </a:r>
          </a:p>
          <a:p>
            <a:pPr algn="ctr"/>
            <a:r>
              <a:rPr lang="en-US" sz="1100" dirty="0"/>
              <a:t>TPS23881B1</a:t>
            </a:r>
          </a:p>
        </p:txBody>
      </p:sp>
      <p:cxnSp>
        <p:nvCxnSpPr>
          <p:cNvPr id="10" name="Straight Connector 9"/>
          <p:cNvCxnSpPr>
            <a:stCxn id="6" idx="3"/>
            <a:endCxn id="5" idx="1"/>
          </p:cNvCxnSpPr>
          <p:nvPr/>
        </p:nvCxnSpPr>
        <p:spPr>
          <a:xfrm>
            <a:off x="2467353" y="1751805"/>
            <a:ext cx="496258" cy="3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/>
          </p:cNvCxnSpPr>
          <p:nvPr/>
        </p:nvCxnSpPr>
        <p:spPr>
          <a:xfrm>
            <a:off x="1073727" y="1720543"/>
            <a:ext cx="385441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361476" y="1110943"/>
            <a:ext cx="2711938" cy="18913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842464" y="2306697"/>
            <a:ext cx="1121525" cy="5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885564" y="2335678"/>
            <a:ext cx="1082348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PD Load</a:t>
            </a:r>
          </a:p>
          <a:p>
            <a:pPr algn="ctr"/>
            <a:r>
              <a:rPr lang="en-US" sz="1100" dirty="0"/>
              <a:t>5W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2677391" y="1759620"/>
            <a:ext cx="0" cy="815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2667622" y="2574373"/>
            <a:ext cx="1828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cxnSpLocks/>
          </p:cNvCxnSpPr>
          <p:nvPr/>
        </p:nvCxnSpPr>
        <p:spPr>
          <a:xfrm>
            <a:off x="3960091" y="1708820"/>
            <a:ext cx="9652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471260" y="147045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54V</a:t>
            </a:r>
          </a:p>
        </p:txBody>
      </p:sp>
      <p:cxnSp>
        <p:nvCxnSpPr>
          <p:cNvPr id="36" name="Straight Arrow Connector 35"/>
          <p:cNvCxnSpPr>
            <a:cxnSpLocks/>
          </p:cNvCxnSpPr>
          <p:nvPr/>
        </p:nvCxnSpPr>
        <p:spPr>
          <a:xfrm>
            <a:off x="7456930" y="1711841"/>
            <a:ext cx="460943" cy="870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FCA6B5A1-1B19-43A7-A5A1-281AACD13173}"/>
              </a:ext>
            </a:extLst>
          </p:cNvPr>
          <p:cNvSpPr/>
          <p:nvPr/>
        </p:nvSpPr>
        <p:spPr>
          <a:xfrm>
            <a:off x="6456560" y="1329772"/>
            <a:ext cx="1000370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5413F3D-55FC-431D-9C37-B827E450AD52}"/>
              </a:ext>
            </a:extLst>
          </p:cNvPr>
          <p:cNvSpPr/>
          <p:nvPr/>
        </p:nvSpPr>
        <p:spPr>
          <a:xfrm>
            <a:off x="4959932" y="1325866"/>
            <a:ext cx="1000370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A37842-E61C-44A9-86A9-E3A1E734BE8D}"/>
              </a:ext>
            </a:extLst>
          </p:cNvPr>
          <p:cNvSpPr txBox="1"/>
          <p:nvPr/>
        </p:nvSpPr>
        <p:spPr>
          <a:xfrm>
            <a:off x="5038498" y="1415745"/>
            <a:ext cx="89629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PD</a:t>
            </a:r>
          </a:p>
          <a:p>
            <a:pPr algn="ctr"/>
            <a:r>
              <a:rPr lang="en-US" sz="1100" dirty="0"/>
              <a:t>TPS2372-3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569B0A-C262-4176-A6BF-4FF2F3DE8DD4}"/>
              </a:ext>
            </a:extLst>
          </p:cNvPr>
          <p:cNvSpPr txBox="1"/>
          <p:nvPr/>
        </p:nvSpPr>
        <p:spPr>
          <a:xfrm>
            <a:off x="6427140" y="1419651"/>
            <a:ext cx="102979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PSE</a:t>
            </a:r>
          </a:p>
          <a:p>
            <a:pPr algn="ctr"/>
            <a:r>
              <a:rPr lang="en-US" sz="1100" dirty="0"/>
              <a:t>TPS23881B1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42676CD-CAFE-485D-A16F-1EE21DC7C174}"/>
              </a:ext>
            </a:extLst>
          </p:cNvPr>
          <p:cNvCxnSpPr>
            <a:stCxn id="39" idx="3"/>
            <a:endCxn id="38" idx="1"/>
          </p:cNvCxnSpPr>
          <p:nvPr/>
        </p:nvCxnSpPr>
        <p:spPr>
          <a:xfrm>
            <a:off x="5960302" y="1751805"/>
            <a:ext cx="496258" cy="3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E7F1DB24-0711-4A7A-80FA-D4D90B65F4FB}"/>
              </a:ext>
            </a:extLst>
          </p:cNvPr>
          <p:cNvSpPr/>
          <p:nvPr/>
        </p:nvSpPr>
        <p:spPr>
          <a:xfrm>
            <a:off x="4854425" y="1110943"/>
            <a:ext cx="2711938" cy="18913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BC7F4AF-0998-4EFF-86DF-C5C5B0C27939}"/>
              </a:ext>
            </a:extLst>
          </p:cNvPr>
          <p:cNvSpPr/>
          <p:nvPr/>
        </p:nvSpPr>
        <p:spPr>
          <a:xfrm>
            <a:off x="6335413" y="2306697"/>
            <a:ext cx="1121525" cy="5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52B937-1049-4E72-BA63-10FC24B88101}"/>
              </a:ext>
            </a:extLst>
          </p:cNvPr>
          <p:cNvSpPr txBox="1"/>
          <p:nvPr/>
        </p:nvSpPr>
        <p:spPr>
          <a:xfrm>
            <a:off x="6378513" y="2335678"/>
            <a:ext cx="1082348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PD Load</a:t>
            </a:r>
          </a:p>
          <a:p>
            <a:pPr algn="ctr"/>
            <a:r>
              <a:rPr lang="en-US" sz="1100" dirty="0"/>
              <a:t>5W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AAE2E83-5EB5-450B-97D4-B613AE6EE916}"/>
              </a:ext>
            </a:extLst>
          </p:cNvPr>
          <p:cNvCxnSpPr/>
          <p:nvPr/>
        </p:nvCxnSpPr>
        <p:spPr>
          <a:xfrm flipH="1">
            <a:off x="6170340" y="1759620"/>
            <a:ext cx="0" cy="815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09CCDCE-F068-4C5F-932F-EE4AC6E8B2A0}"/>
              </a:ext>
            </a:extLst>
          </p:cNvPr>
          <p:cNvCxnSpPr/>
          <p:nvPr/>
        </p:nvCxnSpPr>
        <p:spPr>
          <a:xfrm flipV="1">
            <a:off x="6160571" y="2574373"/>
            <a:ext cx="1828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378C9AEB-46AA-43CB-8DCA-4528AD4588BC}"/>
              </a:ext>
            </a:extLst>
          </p:cNvPr>
          <p:cNvSpPr txBox="1"/>
          <p:nvPr/>
        </p:nvSpPr>
        <p:spPr>
          <a:xfrm>
            <a:off x="5964209" y="147045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54V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F96F447-AF6E-48F2-834B-09C66D782D46}"/>
              </a:ext>
            </a:extLst>
          </p:cNvPr>
          <p:cNvSpPr txBox="1"/>
          <p:nvPr/>
        </p:nvSpPr>
        <p:spPr>
          <a:xfrm>
            <a:off x="1993694" y="300118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0960BDF-B5F4-4562-82D9-DB46961041B4}"/>
              </a:ext>
            </a:extLst>
          </p:cNvPr>
          <p:cNvSpPr txBox="1"/>
          <p:nvPr/>
        </p:nvSpPr>
        <p:spPr>
          <a:xfrm>
            <a:off x="5619397" y="3011308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CBB36B-75D0-4045-9FF5-DF838C6DA26A}"/>
              </a:ext>
            </a:extLst>
          </p:cNvPr>
          <p:cNvSpPr txBox="1"/>
          <p:nvPr/>
        </p:nvSpPr>
        <p:spPr>
          <a:xfrm>
            <a:off x="2789" y="1524154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614270-4D05-4AAC-A068-D16FFC65634C}"/>
              </a:ext>
            </a:extLst>
          </p:cNvPr>
          <p:cNvSpPr txBox="1"/>
          <p:nvPr/>
        </p:nvSpPr>
        <p:spPr>
          <a:xfrm>
            <a:off x="7917873" y="1535877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4</a:t>
            </a:r>
          </a:p>
        </p:txBody>
      </p:sp>
    </p:spTree>
    <p:extLst>
      <p:ext uri="{BB962C8B-B14F-4D97-AF65-F5344CB8AC3E}">
        <p14:creationId xmlns:p14="http://schemas.microsoft.com/office/powerpoint/2010/main" val="2134656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Multi-system Daisy 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0846" y="2537787"/>
            <a:ext cx="1000370" cy="6234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81166" y="1135185"/>
            <a:ext cx="1519303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19895" y="138448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055" y="2514861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  <a:p>
            <a:r>
              <a:rPr lang="en-US" dirty="0"/>
              <a:t>Output</a:t>
            </a: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>
            <a:off x="367145" y="1672494"/>
            <a:ext cx="0" cy="56986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43144" y="2242356"/>
            <a:ext cx="1590487" cy="11820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517116" y="80277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63081" y="1368298"/>
            <a:ext cx="1309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Power Source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9770" y="1368298"/>
            <a:ext cx="579476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3160913" y="136476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  <a:p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5E6B963-66B2-4E3E-B88D-7A46C58B9B0F}"/>
              </a:ext>
            </a:extLst>
          </p:cNvPr>
          <p:cNvSpPr/>
          <p:nvPr/>
        </p:nvSpPr>
        <p:spPr>
          <a:xfrm>
            <a:off x="2282043" y="1368298"/>
            <a:ext cx="443119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5947D86-3D74-47F5-8DA2-189C5B8C7E62}"/>
              </a:ext>
            </a:extLst>
          </p:cNvPr>
          <p:cNvSpPr/>
          <p:nvPr/>
        </p:nvSpPr>
        <p:spPr>
          <a:xfrm>
            <a:off x="4342800" y="1135185"/>
            <a:ext cx="1519303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54A745-70D9-4E53-8528-BFAD3072C302}"/>
              </a:ext>
            </a:extLst>
          </p:cNvPr>
          <p:cNvSpPr txBox="1"/>
          <p:nvPr/>
        </p:nvSpPr>
        <p:spPr>
          <a:xfrm>
            <a:off x="4281529" y="138448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8A7D95-F724-45F6-A4B8-1182634F0C13}"/>
              </a:ext>
            </a:extLst>
          </p:cNvPr>
          <p:cNvSpPr txBox="1"/>
          <p:nvPr/>
        </p:nvSpPr>
        <p:spPr>
          <a:xfrm>
            <a:off x="4578750" y="80277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8A95DA2-42EA-45E0-B6EA-840B2786A2B9}"/>
              </a:ext>
            </a:extLst>
          </p:cNvPr>
          <p:cNvSpPr/>
          <p:nvPr/>
        </p:nvSpPr>
        <p:spPr>
          <a:xfrm>
            <a:off x="5281404" y="1368298"/>
            <a:ext cx="579476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B66E38-45F1-4579-86B3-A3E52087D8B7}"/>
              </a:ext>
            </a:extLst>
          </p:cNvPr>
          <p:cNvSpPr txBox="1"/>
          <p:nvPr/>
        </p:nvSpPr>
        <p:spPr>
          <a:xfrm>
            <a:off x="5222547" y="136476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  <a:p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E412BDF-C14E-4421-A97C-4D40885A9BA4}"/>
              </a:ext>
            </a:extLst>
          </p:cNvPr>
          <p:cNvSpPr/>
          <p:nvPr/>
        </p:nvSpPr>
        <p:spPr>
          <a:xfrm>
            <a:off x="4343677" y="1368298"/>
            <a:ext cx="443119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A7AEA7-4267-4B0A-9D02-692AF8248EF6}"/>
              </a:ext>
            </a:extLst>
          </p:cNvPr>
          <p:cNvSpPr/>
          <p:nvPr/>
        </p:nvSpPr>
        <p:spPr>
          <a:xfrm>
            <a:off x="6445725" y="1966041"/>
            <a:ext cx="1519303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5B7E25-0D3A-467D-8D1D-FE7901FFF095}"/>
              </a:ext>
            </a:extLst>
          </p:cNvPr>
          <p:cNvSpPr txBox="1"/>
          <p:nvPr/>
        </p:nvSpPr>
        <p:spPr>
          <a:xfrm>
            <a:off x="6384454" y="221534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2991E1-FC79-4E79-91F3-B161F6203DA1}"/>
              </a:ext>
            </a:extLst>
          </p:cNvPr>
          <p:cNvSpPr txBox="1"/>
          <p:nvPr/>
        </p:nvSpPr>
        <p:spPr>
          <a:xfrm>
            <a:off x="6681675" y="163363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B2CAD44-F957-418C-9DA3-3645EBFB9AFC}"/>
              </a:ext>
            </a:extLst>
          </p:cNvPr>
          <p:cNvSpPr/>
          <p:nvPr/>
        </p:nvSpPr>
        <p:spPr>
          <a:xfrm>
            <a:off x="7384329" y="2199154"/>
            <a:ext cx="579476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0EC9AA-0DA7-42E8-BE33-B57C2850D938}"/>
              </a:ext>
            </a:extLst>
          </p:cNvPr>
          <p:cNvSpPr txBox="1"/>
          <p:nvPr/>
        </p:nvSpPr>
        <p:spPr>
          <a:xfrm>
            <a:off x="7325472" y="2195620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  <a:p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AA56AB5-C4FC-4172-9D78-56CCF4D60729}"/>
              </a:ext>
            </a:extLst>
          </p:cNvPr>
          <p:cNvSpPr/>
          <p:nvPr/>
        </p:nvSpPr>
        <p:spPr>
          <a:xfrm>
            <a:off x="6446602" y="2199154"/>
            <a:ext cx="443119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F735B85-0829-423C-88C2-5D710D6E56E0}"/>
              </a:ext>
            </a:extLst>
          </p:cNvPr>
          <p:cNvSpPr/>
          <p:nvPr/>
        </p:nvSpPr>
        <p:spPr>
          <a:xfrm>
            <a:off x="6452500" y="3192481"/>
            <a:ext cx="1519303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DDB861-DC2E-4C0E-BB10-CB076CD6A762}"/>
              </a:ext>
            </a:extLst>
          </p:cNvPr>
          <p:cNvSpPr txBox="1"/>
          <p:nvPr/>
        </p:nvSpPr>
        <p:spPr>
          <a:xfrm>
            <a:off x="7470548" y="3425764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DAD8E5-927F-4797-9ED6-7383D1237B8F}"/>
              </a:ext>
            </a:extLst>
          </p:cNvPr>
          <p:cNvSpPr txBox="1"/>
          <p:nvPr/>
        </p:nvSpPr>
        <p:spPr>
          <a:xfrm>
            <a:off x="6688450" y="286007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BB908D-82D5-40D7-9FC1-F7BA62845936}"/>
              </a:ext>
            </a:extLst>
          </p:cNvPr>
          <p:cNvSpPr/>
          <p:nvPr/>
        </p:nvSpPr>
        <p:spPr>
          <a:xfrm>
            <a:off x="6454820" y="3424362"/>
            <a:ext cx="579476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90812A-C551-4806-A3E3-63C593CB3F48}"/>
              </a:ext>
            </a:extLst>
          </p:cNvPr>
          <p:cNvSpPr txBox="1"/>
          <p:nvPr/>
        </p:nvSpPr>
        <p:spPr>
          <a:xfrm>
            <a:off x="6423626" y="341967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  <a:p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7A9880D-156E-4A09-AD84-C6A937A1208D}"/>
              </a:ext>
            </a:extLst>
          </p:cNvPr>
          <p:cNvSpPr/>
          <p:nvPr/>
        </p:nvSpPr>
        <p:spPr>
          <a:xfrm>
            <a:off x="7520686" y="3435371"/>
            <a:ext cx="443119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8EBA92-CB7E-470E-9B33-2F357E1D73BB}"/>
              </a:ext>
            </a:extLst>
          </p:cNvPr>
          <p:cNvSpPr txBox="1"/>
          <p:nvPr/>
        </p:nvSpPr>
        <p:spPr>
          <a:xfrm>
            <a:off x="674991" y="1896656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452B208-B541-4B96-986A-66539290F19F}"/>
              </a:ext>
            </a:extLst>
          </p:cNvPr>
          <p:cNvSpPr/>
          <p:nvPr/>
        </p:nvSpPr>
        <p:spPr>
          <a:xfrm>
            <a:off x="4341577" y="3685595"/>
            <a:ext cx="1519303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D723192-234E-452F-AFB6-4D404FA03404}"/>
              </a:ext>
            </a:extLst>
          </p:cNvPr>
          <p:cNvSpPr txBox="1"/>
          <p:nvPr/>
        </p:nvSpPr>
        <p:spPr>
          <a:xfrm>
            <a:off x="5359625" y="391887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E5D834C-A727-4CF3-87A9-7FB00EABE961}"/>
              </a:ext>
            </a:extLst>
          </p:cNvPr>
          <p:cNvSpPr/>
          <p:nvPr/>
        </p:nvSpPr>
        <p:spPr>
          <a:xfrm>
            <a:off x="4342800" y="3918591"/>
            <a:ext cx="579476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1248FC5-14CF-45EC-94A2-536B16DD6FA2}"/>
              </a:ext>
            </a:extLst>
          </p:cNvPr>
          <p:cNvSpPr txBox="1"/>
          <p:nvPr/>
        </p:nvSpPr>
        <p:spPr>
          <a:xfrm>
            <a:off x="4313337" y="392848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  <a:p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4FB08A0-1D88-47A7-A366-E17047A76E19}"/>
              </a:ext>
            </a:extLst>
          </p:cNvPr>
          <p:cNvSpPr/>
          <p:nvPr/>
        </p:nvSpPr>
        <p:spPr>
          <a:xfrm>
            <a:off x="5409763" y="3928485"/>
            <a:ext cx="443119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F106F66-BED0-4F11-8C29-82023145FD79}"/>
              </a:ext>
            </a:extLst>
          </p:cNvPr>
          <p:cNvSpPr/>
          <p:nvPr/>
        </p:nvSpPr>
        <p:spPr>
          <a:xfrm>
            <a:off x="2266290" y="3685595"/>
            <a:ext cx="1519303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81287B8-561E-4D9E-B43C-CF6DBBB5D6C5}"/>
              </a:ext>
            </a:extLst>
          </p:cNvPr>
          <p:cNvSpPr txBox="1"/>
          <p:nvPr/>
        </p:nvSpPr>
        <p:spPr>
          <a:xfrm>
            <a:off x="3284338" y="391887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D983522-3E4D-4645-A292-C49F452ADD48}"/>
              </a:ext>
            </a:extLst>
          </p:cNvPr>
          <p:cNvSpPr/>
          <p:nvPr/>
        </p:nvSpPr>
        <p:spPr>
          <a:xfrm>
            <a:off x="2271843" y="3918591"/>
            <a:ext cx="579476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BB65D06-6F77-4B09-A722-FAB99F539962}"/>
              </a:ext>
            </a:extLst>
          </p:cNvPr>
          <p:cNvSpPr txBox="1"/>
          <p:nvPr/>
        </p:nvSpPr>
        <p:spPr>
          <a:xfrm>
            <a:off x="2230090" y="3918591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  <a:p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F6DFD70-C6ED-4AF1-BC99-72A61EE4BA02}"/>
              </a:ext>
            </a:extLst>
          </p:cNvPr>
          <p:cNvSpPr/>
          <p:nvPr/>
        </p:nvSpPr>
        <p:spPr>
          <a:xfrm>
            <a:off x="3334476" y="3928485"/>
            <a:ext cx="443119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552583-3379-490D-B54F-E71B2621B76F}"/>
              </a:ext>
            </a:extLst>
          </p:cNvPr>
          <p:cNvCxnSpPr>
            <a:stCxn id="13" idx="3"/>
            <a:endCxn id="38" idx="1"/>
          </p:cNvCxnSpPr>
          <p:nvPr/>
        </p:nvCxnSpPr>
        <p:spPr>
          <a:xfrm flipV="1">
            <a:off x="1833631" y="1552965"/>
            <a:ext cx="448412" cy="128039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71CC4D1-E0CE-4DBB-97F7-C75A547986AF}"/>
              </a:ext>
            </a:extLst>
          </p:cNvPr>
          <p:cNvCxnSpPr>
            <a:cxnSpLocks/>
            <a:stCxn id="6" idx="3"/>
            <a:endCxn id="44" idx="1"/>
          </p:cNvCxnSpPr>
          <p:nvPr/>
        </p:nvCxnSpPr>
        <p:spPr>
          <a:xfrm flipV="1">
            <a:off x="3800469" y="1552965"/>
            <a:ext cx="543208" cy="815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AC09C39-F1E0-41DF-AC53-92FEE0C91237}"/>
              </a:ext>
            </a:extLst>
          </p:cNvPr>
          <p:cNvCxnSpPr>
            <a:cxnSpLocks/>
            <a:stCxn id="42" idx="3"/>
            <a:endCxn id="50" idx="1"/>
          </p:cNvCxnSpPr>
          <p:nvPr/>
        </p:nvCxnSpPr>
        <p:spPr>
          <a:xfrm>
            <a:off x="5860880" y="1552965"/>
            <a:ext cx="585722" cy="83085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A8ACDFC-D7C6-4811-A8B2-3E2EB86A20B3}"/>
              </a:ext>
            </a:extLst>
          </p:cNvPr>
          <p:cNvCxnSpPr>
            <a:cxnSpLocks/>
          </p:cNvCxnSpPr>
          <p:nvPr/>
        </p:nvCxnSpPr>
        <p:spPr>
          <a:xfrm>
            <a:off x="7963805" y="2400009"/>
            <a:ext cx="61908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A900975-431E-46B8-B37D-D47742CA3790}"/>
              </a:ext>
            </a:extLst>
          </p:cNvPr>
          <p:cNvCxnSpPr>
            <a:cxnSpLocks/>
          </p:cNvCxnSpPr>
          <p:nvPr/>
        </p:nvCxnSpPr>
        <p:spPr>
          <a:xfrm flipV="1">
            <a:off x="8582891" y="2383821"/>
            <a:ext cx="0" cy="123459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8DB94975-D517-4342-BBFF-D88D9D30F019}"/>
              </a:ext>
            </a:extLst>
          </p:cNvPr>
          <p:cNvCxnSpPr>
            <a:cxnSpLocks/>
            <a:endCxn id="52" idx="3"/>
          </p:cNvCxnSpPr>
          <p:nvPr/>
        </p:nvCxnSpPr>
        <p:spPr>
          <a:xfrm flipH="1">
            <a:off x="7975815" y="3603967"/>
            <a:ext cx="607076" cy="646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3634443-C37A-4B72-89BC-3E45D9537AEA}"/>
              </a:ext>
            </a:extLst>
          </p:cNvPr>
          <p:cNvCxnSpPr>
            <a:cxnSpLocks/>
            <a:endCxn id="84" idx="3"/>
          </p:cNvCxnSpPr>
          <p:nvPr/>
        </p:nvCxnSpPr>
        <p:spPr>
          <a:xfrm flipH="1">
            <a:off x="5852882" y="3618419"/>
            <a:ext cx="606404" cy="4947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409F30E-7736-4057-A6F3-0CBAD611F496}"/>
              </a:ext>
            </a:extLst>
          </p:cNvPr>
          <p:cNvCxnSpPr>
            <a:cxnSpLocks/>
            <a:endCxn id="89" idx="3"/>
          </p:cNvCxnSpPr>
          <p:nvPr/>
        </p:nvCxnSpPr>
        <p:spPr>
          <a:xfrm flipH="1">
            <a:off x="3777595" y="4113152"/>
            <a:ext cx="563982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759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Multi-system Daisy Chain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0846" y="2537787"/>
            <a:ext cx="1000370" cy="62340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81166" y="1135185"/>
            <a:ext cx="1519303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219895" y="138448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865" y="267803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</p:txBody>
      </p:sp>
      <p:cxnSp>
        <p:nvCxnSpPr>
          <p:cNvPr id="12" name="Straight Arrow Connector 11"/>
          <p:cNvCxnSpPr>
            <a:cxnSpLocks/>
          </p:cNvCxnSpPr>
          <p:nvPr/>
        </p:nvCxnSpPr>
        <p:spPr>
          <a:xfrm>
            <a:off x="367145" y="1672494"/>
            <a:ext cx="0" cy="569862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43144" y="2242356"/>
            <a:ext cx="1590487" cy="118200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517116" y="80277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-63081" y="1368298"/>
            <a:ext cx="13099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Power Source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19770" y="1368298"/>
            <a:ext cx="579476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3160913" y="136476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  <a:p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5E6B963-66B2-4E3E-B88D-7A46C58B9B0F}"/>
              </a:ext>
            </a:extLst>
          </p:cNvPr>
          <p:cNvSpPr/>
          <p:nvPr/>
        </p:nvSpPr>
        <p:spPr>
          <a:xfrm>
            <a:off x="2282043" y="1368298"/>
            <a:ext cx="443119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5947D86-3D74-47F5-8DA2-189C5B8C7E62}"/>
              </a:ext>
            </a:extLst>
          </p:cNvPr>
          <p:cNvSpPr/>
          <p:nvPr/>
        </p:nvSpPr>
        <p:spPr>
          <a:xfrm>
            <a:off x="4342800" y="1135185"/>
            <a:ext cx="1519303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54A745-70D9-4E53-8528-BFAD3072C302}"/>
              </a:ext>
            </a:extLst>
          </p:cNvPr>
          <p:cNvSpPr txBox="1"/>
          <p:nvPr/>
        </p:nvSpPr>
        <p:spPr>
          <a:xfrm>
            <a:off x="4281529" y="1384487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8A7D95-F724-45F6-A4B8-1182634F0C13}"/>
              </a:ext>
            </a:extLst>
          </p:cNvPr>
          <p:cNvSpPr txBox="1"/>
          <p:nvPr/>
        </p:nvSpPr>
        <p:spPr>
          <a:xfrm>
            <a:off x="4578750" y="802776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2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8A95DA2-42EA-45E0-B6EA-840B2786A2B9}"/>
              </a:ext>
            </a:extLst>
          </p:cNvPr>
          <p:cNvSpPr/>
          <p:nvPr/>
        </p:nvSpPr>
        <p:spPr>
          <a:xfrm>
            <a:off x="5281404" y="1368298"/>
            <a:ext cx="579476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6B66E38-45F1-4579-86B3-A3E52087D8B7}"/>
              </a:ext>
            </a:extLst>
          </p:cNvPr>
          <p:cNvSpPr txBox="1"/>
          <p:nvPr/>
        </p:nvSpPr>
        <p:spPr>
          <a:xfrm>
            <a:off x="5222547" y="136476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  <a:p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E412BDF-C14E-4421-A97C-4D40885A9BA4}"/>
              </a:ext>
            </a:extLst>
          </p:cNvPr>
          <p:cNvSpPr/>
          <p:nvPr/>
        </p:nvSpPr>
        <p:spPr>
          <a:xfrm>
            <a:off x="4343677" y="1368298"/>
            <a:ext cx="443119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0A7AEA7-4267-4B0A-9D02-692AF8248EF6}"/>
              </a:ext>
            </a:extLst>
          </p:cNvPr>
          <p:cNvSpPr/>
          <p:nvPr/>
        </p:nvSpPr>
        <p:spPr>
          <a:xfrm>
            <a:off x="6445725" y="1966041"/>
            <a:ext cx="1519303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5B7E25-0D3A-467D-8D1D-FE7901FFF095}"/>
              </a:ext>
            </a:extLst>
          </p:cNvPr>
          <p:cNvSpPr txBox="1"/>
          <p:nvPr/>
        </p:nvSpPr>
        <p:spPr>
          <a:xfrm>
            <a:off x="6384454" y="221534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2991E1-FC79-4E79-91F3-B161F6203DA1}"/>
              </a:ext>
            </a:extLst>
          </p:cNvPr>
          <p:cNvSpPr txBox="1"/>
          <p:nvPr/>
        </p:nvSpPr>
        <p:spPr>
          <a:xfrm>
            <a:off x="6681675" y="163363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3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B2CAD44-F957-418C-9DA3-3645EBFB9AFC}"/>
              </a:ext>
            </a:extLst>
          </p:cNvPr>
          <p:cNvSpPr/>
          <p:nvPr/>
        </p:nvSpPr>
        <p:spPr>
          <a:xfrm>
            <a:off x="7384329" y="2199154"/>
            <a:ext cx="579476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E0EC9AA-0DA7-42E8-BE33-B57C2850D938}"/>
              </a:ext>
            </a:extLst>
          </p:cNvPr>
          <p:cNvSpPr txBox="1"/>
          <p:nvPr/>
        </p:nvSpPr>
        <p:spPr>
          <a:xfrm>
            <a:off x="7325472" y="2195620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  <a:p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AA56AB5-C4FC-4172-9D78-56CCF4D60729}"/>
              </a:ext>
            </a:extLst>
          </p:cNvPr>
          <p:cNvSpPr/>
          <p:nvPr/>
        </p:nvSpPr>
        <p:spPr>
          <a:xfrm>
            <a:off x="6446602" y="2199154"/>
            <a:ext cx="443119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F735B85-0829-423C-88C2-5D710D6E56E0}"/>
              </a:ext>
            </a:extLst>
          </p:cNvPr>
          <p:cNvSpPr/>
          <p:nvPr/>
        </p:nvSpPr>
        <p:spPr>
          <a:xfrm>
            <a:off x="6452500" y="3192481"/>
            <a:ext cx="1519303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DDB861-DC2E-4C0E-BB10-CB076CD6A762}"/>
              </a:ext>
            </a:extLst>
          </p:cNvPr>
          <p:cNvSpPr txBox="1"/>
          <p:nvPr/>
        </p:nvSpPr>
        <p:spPr>
          <a:xfrm>
            <a:off x="7470548" y="3425764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6DAD8E5-927F-4797-9ED6-7383D1237B8F}"/>
              </a:ext>
            </a:extLst>
          </p:cNvPr>
          <p:cNvSpPr txBox="1"/>
          <p:nvPr/>
        </p:nvSpPr>
        <p:spPr>
          <a:xfrm>
            <a:off x="6688450" y="2860072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4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3BB908D-82D5-40D7-9FC1-F7BA62845936}"/>
              </a:ext>
            </a:extLst>
          </p:cNvPr>
          <p:cNvSpPr/>
          <p:nvPr/>
        </p:nvSpPr>
        <p:spPr>
          <a:xfrm>
            <a:off x="6454820" y="3424362"/>
            <a:ext cx="579476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890812A-C551-4806-A3E3-63C593CB3F48}"/>
              </a:ext>
            </a:extLst>
          </p:cNvPr>
          <p:cNvSpPr txBox="1"/>
          <p:nvPr/>
        </p:nvSpPr>
        <p:spPr>
          <a:xfrm>
            <a:off x="6423626" y="3419674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  <a:p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7A9880D-156E-4A09-AD84-C6A937A1208D}"/>
              </a:ext>
            </a:extLst>
          </p:cNvPr>
          <p:cNvSpPr/>
          <p:nvPr/>
        </p:nvSpPr>
        <p:spPr>
          <a:xfrm>
            <a:off x="7520686" y="3435371"/>
            <a:ext cx="443119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38EBA92-CB7E-470E-9B33-2F357E1D73BB}"/>
              </a:ext>
            </a:extLst>
          </p:cNvPr>
          <p:cNvSpPr txBox="1"/>
          <p:nvPr/>
        </p:nvSpPr>
        <p:spPr>
          <a:xfrm>
            <a:off x="674991" y="1896656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Host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452B208-B541-4B96-986A-66539290F19F}"/>
              </a:ext>
            </a:extLst>
          </p:cNvPr>
          <p:cNvSpPr/>
          <p:nvPr/>
        </p:nvSpPr>
        <p:spPr>
          <a:xfrm>
            <a:off x="4341577" y="3685595"/>
            <a:ext cx="1519303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D723192-234E-452F-AFB6-4D404FA03404}"/>
              </a:ext>
            </a:extLst>
          </p:cNvPr>
          <p:cNvSpPr txBox="1"/>
          <p:nvPr/>
        </p:nvSpPr>
        <p:spPr>
          <a:xfrm>
            <a:off x="5359625" y="391887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E5D834C-A727-4CF3-87A9-7FB00EABE961}"/>
              </a:ext>
            </a:extLst>
          </p:cNvPr>
          <p:cNvSpPr/>
          <p:nvPr/>
        </p:nvSpPr>
        <p:spPr>
          <a:xfrm>
            <a:off x="4342800" y="3918591"/>
            <a:ext cx="579476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1248FC5-14CF-45EC-94A2-536B16DD6FA2}"/>
              </a:ext>
            </a:extLst>
          </p:cNvPr>
          <p:cNvSpPr txBox="1"/>
          <p:nvPr/>
        </p:nvSpPr>
        <p:spPr>
          <a:xfrm>
            <a:off x="4313337" y="3928485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  <a:p>
            <a:endParaRPr lang="en-US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74FB08A0-1D88-47A7-A366-E17047A76E19}"/>
              </a:ext>
            </a:extLst>
          </p:cNvPr>
          <p:cNvSpPr/>
          <p:nvPr/>
        </p:nvSpPr>
        <p:spPr>
          <a:xfrm>
            <a:off x="5409763" y="3928485"/>
            <a:ext cx="443119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AF106F66-BED0-4F11-8C29-82023145FD79}"/>
              </a:ext>
            </a:extLst>
          </p:cNvPr>
          <p:cNvSpPr/>
          <p:nvPr/>
        </p:nvSpPr>
        <p:spPr>
          <a:xfrm>
            <a:off x="2266290" y="3685595"/>
            <a:ext cx="1519303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81287B8-561E-4D9E-B43C-CF6DBBB5D6C5}"/>
              </a:ext>
            </a:extLst>
          </p:cNvPr>
          <p:cNvSpPr txBox="1"/>
          <p:nvPr/>
        </p:nvSpPr>
        <p:spPr>
          <a:xfrm>
            <a:off x="3284338" y="3918878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9D983522-3E4D-4645-A292-C49F452ADD48}"/>
              </a:ext>
            </a:extLst>
          </p:cNvPr>
          <p:cNvSpPr/>
          <p:nvPr/>
        </p:nvSpPr>
        <p:spPr>
          <a:xfrm>
            <a:off x="2271843" y="3918591"/>
            <a:ext cx="579476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BB65D06-6F77-4B09-A722-FAB99F539962}"/>
              </a:ext>
            </a:extLst>
          </p:cNvPr>
          <p:cNvSpPr txBox="1"/>
          <p:nvPr/>
        </p:nvSpPr>
        <p:spPr>
          <a:xfrm>
            <a:off x="2230090" y="3918591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  <a:p>
            <a:endParaRPr lang="en-US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CF6DFD70-C6ED-4AF1-BC99-72A61EE4BA02}"/>
              </a:ext>
            </a:extLst>
          </p:cNvPr>
          <p:cNvSpPr/>
          <p:nvPr/>
        </p:nvSpPr>
        <p:spPr>
          <a:xfrm>
            <a:off x="3334476" y="3928485"/>
            <a:ext cx="443119" cy="36933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3552583-3379-490D-B54F-E71B2621B76F}"/>
              </a:ext>
            </a:extLst>
          </p:cNvPr>
          <p:cNvCxnSpPr>
            <a:stCxn id="13" idx="3"/>
            <a:endCxn id="38" idx="1"/>
          </p:cNvCxnSpPr>
          <p:nvPr/>
        </p:nvCxnSpPr>
        <p:spPr>
          <a:xfrm flipV="1">
            <a:off x="1833631" y="1552965"/>
            <a:ext cx="448412" cy="128039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871CC4D1-E0CE-4DBB-97F7-C75A547986AF}"/>
              </a:ext>
            </a:extLst>
          </p:cNvPr>
          <p:cNvCxnSpPr>
            <a:cxnSpLocks/>
            <a:stCxn id="6" idx="3"/>
            <a:endCxn id="44" idx="1"/>
          </p:cNvCxnSpPr>
          <p:nvPr/>
        </p:nvCxnSpPr>
        <p:spPr>
          <a:xfrm flipV="1">
            <a:off x="3800469" y="1552965"/>
            <a:ext cx="543208" cy="815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1AC09C39-F1E0-41DF-AC53-92FEE0C91237}"/>
              </a:ext>
            </a:extLst>
          </p:cNvPr>
          <p:cNvCxnSpPr>
            <a:cxnSpLocks/>
            <a:stCxn id="42" idx="3"/>
            <a:endCxn id="50" idx="1"/>
          </p:cNvCxnSpPr>
          <p:nvPr/>
        </p:nvCxnSpPr>
        <p:spPr>
          <a:xfrm>
            <a:off x="5860880" y="1552965"/>
            <a:ext cx="585722" cy="83085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4A8ACDFC-D7C6-4811-A8B2-3E2EB86A20B3}"/>
              </a:ext>
            </a:extLst>
          </p:cNvPr>
          <p:cNvCxnSpPr>
            <a:cxnSpLocks/>
          </p:cNvCxnSpPr>
          <p:nvPr/>
        </p:nvCxnSpPr>
        <p:spPr>
          <a:xfrm>
            <a:off x="7963805" y="2400009"/>
            <a:ext cx="61908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CA900975-431E-46B8-B37D-D47742CA3790}"/>
              </a:ext>
            </a:extLst>
          </p:cNvPr>
          <p:cNvCxnSpPr>
            <a:cxnSpLocks/>
          </p:cNvCxnSpPr>
          <p:nvPr/>
        </p:nvCxnSpPr>
        <p:spPr>
          <a:xfrm flipV="1">
            <a:off x="8582891" y="2383821"/>
            <a:ext cx="0" cy="1234598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8DB94975-D517-4342-BBFF-D88D9D30F019}"/>
              </a:ext>
            </a:extLst>
          </p:cNvPr>
          <p:cNvCxnSpPr>
            <a:cxnSpLocks/>
            <a:endCxn id="52" idx="3"/>
          </p:cNvCxnSpPr>
          <p:nvPr/>
        </p:nvCxnSpPr>
        <p:spPr>
          <a:xfrm flipH="1">
            <a:off x="7975815" y="3603967"/>
            <a:ext cx="607076" cy="646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3634443-C37A-4B72-89BC-3E45D9537AEA}"/>
              </a:ext>
            </a:extLst>
          </p:cNvPr>
          <p:cNvCxnSpPr>
            <a:cxnSpLocks/>
            <a:endCxn id="84" idx="3"/>
          </p:cNvCxnSpPr>
          <p:nvPr/>
        </p:nvCxnSpPr>
        <p:spPr>
          <a:xfrm flipH="1">
            <a:off x="5852882" y="3618419"/>
            <a:ext cx="606404" cy="494733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0409F30E-7736-4057-A6F3-0CBAD611F496}"/>
              </a:ext>
            </a:extLst>
          </p:cNvPr>
          <p:cNvCxnSpPr>
            <a:cxnSpLocks/>
            <a:endCxn id="89" idx="3"/>
          </p:cNvCxnSpPr>
          <p:nvPr/>
        </p:nvCxnSpPr>
        <p:spPr>
          <a:xfrm flipH="1">
            <a:off x="3777595" y="4113152"/>
            <a:ext cx="563982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1E791CB-DBA2-4CE0-8A9B-1DB0A01F20D6}"/>
              </a:ext>
            </a:extLst>
          </p:cNvPr>
          <p:cNvSpPr txBox="1"/>
          <p:nvPr/>
        </p:nvSpPr>
        <p:spPr>
          <a:xfrm>
            <a:off x="6209679" y="61628"/>
            <a:ext cx="2748074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IEEE802.3bt PSE/PD needed due to total power consumption of 6 device system: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6x 5W Loads (30W) total load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100m cable Loss between devices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&gt;30W requires IEEE802.3bt Type 3-4 PSE/PD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BB7E0D-4FC1-4736-A499-156B88C609CE}"/>
              </a:ext>
            </a:extLst>
          </p:cNvPr>
          <p:cNvSpPr txBox="1"/>
          <p:nvPr/>
        </p:nvSpPr>
        <p:spPr>
          <a:xfrm>
            <a:off x="1798315" y="2805507"/>
            <a:ext cx="10310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Up to 90W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0D48FA6-2FD5-4484-BFA0-BCCE90F0C128}"/>
              </a:ext>
            </a:extLst>
          </p:cNvPr>
          <p:cNvSpPr txBox="1"/>
          <p:nvPr/>
        </p:nvSpPr>
        <p:spPr>
          <a:xfrm>
            <a:off x="2434523" y="1993906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5W Load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9A3D116-0DA3-43CB-A833-95EDAAE12FB7}"/>
              </a:ext>
            </a:extLst>
          </p:cNvPr>
          <p:cNvSpPr txBox="1"/>
          <p:nvPr/>
        </p:nvSpPr>
        <p:spPr>
          <a:xfrm>
            <a:off x="4576278" y="1998860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5W Load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BA8143-31F1-4D49-8704-04A0CBAFADB9}"/>
              </a:ext>
            </a:extLst>
          </p:cNvPr>
          <p:cNvSpPr txBox="1"/>
          <p:nvPr/>
        </p:nvSpPr>
        <p:spPr>
          <a:xfrm>
            <a:off x="5362579" y="2545306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5W Load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21AF247-03BF-42A3-8B22-A7C41F698C64}"/>
              </a:ext>
            </a:extLst>
          </p:cNvPr>
          <p:cNvSpPr txBox="1"/>
          <p:nvPr/>
        </p:nvSpPr>
        <p:spPr>
          <a:xfrm>
            <a:off x="5362579" y="2990928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5W Load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8744ACD-E2A1-4904-A4A4-A80DF5497BBE}"/>
              </a:ext>
            </a:extLst>
          </p:cNvPr>
          <p:cNvSpPr txBox="1"/>
          <p:nvPr/>
        </p:nvSpPr>
        <p:spPr>
          <a:xfrm>
            <a:off x="4582904" y="3377818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5W Load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70CBB23-B1D3-425D-8F5E-935D53CD0084}"/>
              </a:ext>
            </a:extLst>
          </p:cNvPr>
          <p:cNvSpPr txBox="1"/>
          <p:nvPr/>
        </p:nvSpPr>
        <p:spPr>
          <a:xfrm>
            <a:off x="2538145" y="3361266"/>
            <a:ext cx="9012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5W Load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FAD9C40-BC12-43F1-BBF4-CA2C706765FF}"/>
              </a:ext>
            </a:extLst>
          </p:cNvPr>
          <p:cNvSpPr txBox="1"/>
          <p:nvPr/>
        </p:nvSpPr>
        <p:spPr>
          <a:xfrm>
            <a:off x="1559805" y="1798679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Loss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2FBA742-085F-4AEB-A163-F9919C245455}"/>
              </a:ext>
            </a:extLst>
          </p:cNvPr>
          <p:cNvSpPr txBox="1"/>
          <p:nvPr/>
        </p:nvSpPr>
        <p:spPr>
          <a:xfrm>
            <a:off x="3736083" y="118186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Loss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D789DBE-8F13-4BE1-9516-1F3E234C50DE}"/>
              </a:ext>
            </a:extLst>
          </p:cNvPr>
          <p:cNvSpPr txBox="1"/>
          <p:nvPr/>
        </p:nvSpPr>
        <p:spPr>
          <a:xfrm>
            <a:off x="3748406" y="3752598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Loss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B74DAC7-2207-4F23-85B7-837CF3FF3F4D}"/>
              </a:ext>
            </a:extLst>
          </p:cNvPr>
          <p:cNvSpPr txBox="1"/>
          <p:nvPr/>
        </p:nvSpPr>
        <p:spPr>
          <a:xfrm>
            <a:off x="5710492" y="2057690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721DABF-F036-443A-A6E2-0175361293C6}"/>
              </a:ext>
            </a:extLst>
          </p:cNvPr>
          <p:cNvSpPr txBox="1"/>
          <p:nvPr/>
        </p:nvSpPr>
        <p:spPr>
          <a:xfrm>
            <a:off x="5946394" y="3937877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Loss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209E96D-BB3E-4C92-927D-681441B51033}"/>
              </a:ext>
            </a:extLst>
          </p:cNvPr>
          <p:cNvSpPr txBox="1"/>
          <p:nvPr/>
        </p:nvSpPr>
        <p:spPr>
          <a:xfrm>
            <a:off x="8531300" y="2779806"/>
            <a:ext cx="5629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Loss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D44629-736F-455C-83EA-F2DFC8E2B085}"/>
              </a:ext>
            </a:extLst>
          </p:cNvPr>
          <p:cNvSpPr txBox="1"/>
          <p:nvPr/>
        </p:nvSpPr>
        <p:spPr>
          <a:xfrm>
            <a:off x="3167866" y="2604802"/>
            <a:ext cx="2241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Total Load &gt;30W</a:t>
            </a:r>
          </a:p>
        </p:txBody>
      </p:sp>
    </p:spTree>
    <p:extLst>
      <p:ext uri="{BB962C8B-B14F-4D97-AF65-F5344CB8AC3E}">
        <p14:creationId xmlns:p14="http://schemas.microsoft.com/office/powerpoint/2010/main" val="2529092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3EB34-ECC1-497C-838C-30AE4CE47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CEB3A-CDDC-459C-861B-14CAC2400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Due to total daisy chain system load &gt;30W, a IEEE802.3bt Type 3-4 PSE/PD setup is required. </a:t>
            </a:r>
          </a:p>
          <a:p>
            <a:pPr lvl="1"/>
            <a:r>
              <a:rPr lang="en-US" dirty="0"/>
              <a:t>This is mainly due to local load consumed at device + cable loss</a:t>
            </a:r>
          </a:p>
          <a:p>
            <a:pPr lvl="1"/>
            <a:endParaRPr lang="en-US" dirty="0"/>
          </a:p>
          <a:p>
            <a:r>
              <a:rPr lang="en-US" dirty="0"/>
              <a:t>TPS23881B1 will RTM end of October. This device can support up to 90W without need for host control. </a:t>
            </a:r>
          </a:p>
          <a:p>
            <a:pPr lvl="1"/>
            <a:r>
              <a:rPr lang="en-US" dirty="0"/>
              <a:t>If wish to due dynamic passthrough (active power monitoring, please see slides 19-23), host control is needed</a:t>
            </a:r>
          </a:p>
          <a:p>
            <a:pPr lvl="1"/>
            <a:r>
              <a:rPr lang="en-US" dirty="0"/>
              <a:t>TPS23881B1 supports autonomous mode, also supports host control. </a:t>
            </a:r>
          </a:p>
          <a:p>
            <a:pPr marL="284347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5C9FA-773D-43C6-8983-D988E6A1CD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22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B5468A1E-30BC-42C6-B920-755784B44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892" y="1269347"/>
            <a:ext cx="3696401" cy="2802934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6670976" y="3199561"/>
            <a:ext cx="2133600" cy="154782"/>
          </a:xfrm>
        </p:spPr>
        <p:txBody>
          <a:bodyPr/>
          <a:lstStyle/>
          <a:p>
            <a:pPr>
              <a:defRPr/>
            </a:pPr>
            <a:fld id="{2B97888F-6AF7-4263-B69D-592D8C33BAC7}" type="slidenum">
              <a:rPr lang="en-US" sz="500" smtClean="0"/>
              <a:pPr>
                <a:defRPr/>
              </a:pPr>
              <a:t>14</a:t>
            </a:fld>
            <a:endParaRPr lang="en-US" sz="500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20"/>
          <a:stretch/>
        </p:blipFill>
        <p:spPr bwMode="auto">
          <a:xfrm>
            <a:off x="257478" y="1176689"/>
            <a:ext cx="4363014" cy="300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3610276" y="2472089"/>
            <a:ext cx="838200" cy="1066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4067476" y="3538889"/>
            <a:ext cx="381000" cy="1066800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985210" y="4219876"/>
            <a:ext cx="22958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Set to Class 4 and Class 4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2924476" y="186089"/>
            <a:ext cx="0" cy="1143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 flipH="1">
            <a:off x="2907506" y="186089"/>
            <a:ext cx="240268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5291438" y="202194"/>
            <a:ext cx="0" cy="12192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153076" y="414689"/>
            <a:ext cx="0" cy="9144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cxnSpLocks/>
          </p:cNvCxnSpPr>
          <p:nvPr/>
        </p:nvCxnSpPr>
        <p:spPr>
          <a:xfrm flipH="1">
            <a:off x="3133120" y="414150"/>
            <a:ext cx="203895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 flipV="1">
            <a:off x="5155058" y="430794"/>
            <a:ext cx="0" cy="99060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51598" y="217925"/>
            <a:ext cx="26878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Connect VDD on TPS2372EVM to (+) on TPS23881EVM</a:t>
            </a:r>
          </a:p>
          <a:p>
            <a:r>
              <a:rPr lang="en-US" sz="1400" dirty="0"/>
              <a:t>Connect RTN on TPS2372EVM to (-) on TPS23881EVM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105076" y="3081689"/>
            <a:ext cx="457200" cy="0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5076" y="3081689"/>
            <a:ext cx="0" cy="175260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00526" y="4115602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PD Input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6751620" y="3741066"/>
            <a:ext cx="1" cy="919161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29126" y="4219876"/>
            <a:ext cx="109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PSE output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D450882-A9EA-4862-BD50-07DD6C920D0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87" t="1400" r="533" b="1961"/>
          <a:stretch/>
        </p:blipFill>
        <p:spPr>
          <a:xfrm>
            <a:off x="5412534" y="1580547"/>
            <a:ext cx="1483831" cy="1077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797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90">
            <a:extLst>
              <a:ext uri="{FF2B5EF4-FFF2-40B4-BE49-F238E27FC236}">
                <a16:creationId xmlns:a16="http://schemas.microsoft.com/office/drawing/2014/main" id="{B9727942-02F9-4EE7-A2D0-3BE442B89FF2}"/>
              </a:ext>
            </a:extLst>
          </p:cNvPr>
          <p:cNvSpPr txBox="1"/>
          <p:nvPr/>
        </p:nvSpPr>
        <p:spPr>
          <a:xfrm>
            <a:off x="120864" y="1779580"/>
            <a:ext cx="85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44-57V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4968" y="274524"/>
            <a:ext cx="8458200" cy="610791"/>
          </a:xfrm>
        </p:spPr>
        <p:txBody>
          <a:bodyPr/>
          <a:lstStyle/>
          <a:p>
            <a:r>
              <a:rPr lang="en-US" dirty="0"/>
              <a:t>TI - Device Architecture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928076" y="1334460"/>
            <a:ext cx="1000370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31575" y="1333679"/>
            <a:ext cx="1000370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383614" y="1490311"/>
            <a:ext cx="89629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PD</a:t>
            </a:r>
          </a:p>
          <a:p>
            <a:pPr algn="ctr"/>
            <a:r>
              <a:rPr lang="en-US" sz="1100" dirty="0"/>
              <a:t>TPS2372-3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1907" y="1460190"/>
            <a:ext cx="1032708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PSE</a:t>
            </a:r>
          </a:p>
          <a:p>
            <a:pPr algn="ctr"/>
            <a:r>
              <a:rPr lang="en-US" sz="1100" dirty="0"/>
              <a:t>TPS23881B1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61476" y="962891"/>
            <a:ext cx="6140760" cy="324196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928076" y="2897020"/>
            <a:ext cx="1000370" cy="8503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904734" y="3113797"/>
            <a:ext cx="1082348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PD Load</a:t>
            </a:r>
          </a:p>
          <a:p>
            <a:pPr algn="ctr"/>
            <a:r>
              <a:rPr lang="en-US" sz="1100" dirty="0"/>
              <a:t>5W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CBB36B-75D0-4045-9FF5-DF838C6DA26A}"/>
              </a:ext>
            </a:extLst>
          </p:cNvPr>
          <p:cNvSpPr txBox="1"/>
          <p:nvPr/>
        </p:nvSpPr>
        <p:spPr>
          <a:xfrm>
            <a:off x="45461" y="1426721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FA71FD-199E-4C2F-928E-FE404986F450}"/>
              </a:ext>
            </a:extLst>
          </p:cNvPr>
          <p:cNvSpPr/>
          <p:nvPr/>
        </p:nvSpPr>
        <p:spPr>
          <a:xfrm>
            <a:off x="1885046" y="1333679"/>
            <a:ext cx="268694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D097D8-1CE3-4C2A-9253-165FD824369A}"/>
              </a:ext>
            </a:extLst>
          </p:cNvPr>
          <p:cNvSpPr txBox="1"/>
          <p:nvPr/>
        </p:nvSpPr>
        <p:spPr>
          <a:xfrm rot="16200000">
            <a:off x="1559571" y="1613603"/>
            <a:ext cx="91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FET Bridge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3B90D9-052E-4308-A5B8-7E8B5CE91BB5}"/>
              </a:ext>
            </a:extLst>
          </p:cNvPr>
          <p:cNvSpPr txBox="1"/>
          <p:nvPr/>
        </p:nvSpPr>
        <p:spPr>
          <a:xfrm rot="16200000">
            <a:off x="1166043" y="1648775"/>
            <a:ext cx="85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RJ45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ADCBB7-2D03-478C-B84C-292E81FDC5E4}"/>
              </a:ext>
            </a:extLst>
          </p:cNvPr>
          <p:cNvSpPr/>
          <p:nvPr/>
        </p:nvSpPr>
        <p:spPr>
          <a:xfrm>
            <a:off x="1461177" y="1333679"/>
            <a:ext cx="268694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E30E56-54E3-4608-93AB-F06F396658F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163624" y="1759618"/>
            <a:ext cx="129755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E7D6C09-8ACC-41A6-BF96-18C272E083FF}"/>
              </a:ext>
            </a:extLst>
          </p:cNvPr>
          <p:cNvCxnSpPr>
            <a:cxnSpLocks/>
            <a:stCxn id="18" idx="3"/>
            <a:endCxn id="12" idx="1"/>
          </p:cNvCxnSpPr>
          <p:nvPr/>
        </p:nvCxnSpPr>
        <p:spPr>
          <a:xfrm>
            <a:off x="1729871" y="1759618"/>
            <a:ext cx="15517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634F57C-52A2-489D-8D34-7356C6271094}"/>
              </a:ext>
            </a:extLst>
          </p:cNvPr>
          <p:cNvCxnSpPr>
            <a:cxnSpLocks/>
            <a:stCxn id="12" idx="3"/>
            <a:endCxn id="6" idx="1"/>
          </p:cNvCxnSpPr>
          <p:nvPr/>
        </p:nvCxnSpPr>
        <p:spPr>
          <a:xfrm>
            <a:off x="2153740" y="1759618"/>
            <a:ext cx="17783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680C1A9-A5AC-4903-B0AF-632F476873B5}"/>
              </a:ext>
            </a:extLst>
          </p:cNvPr>
          <p:cNvSpPr/>
          <p:nvPr/>
        </p:nvSpPr>
        <p:spPr>
          <a:xfrm>
            <a:off x="3533162" y="2895459"/>
            <a:ext cx="1000370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BB1576-B83D-4AD4-9746-49993DD9C787}"/>
              </a:ext>
            </a:extLst>
          </p:cNvPr>
          <p:cNvSpPr txBox="1"/>
          <p:nvPr/>
        </p:nvSpPr>
        <p:spPr>
          <a:xfrm>
            <a:off x="3585201" y="3058391"/>
            <a:ext cx="89629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Buck</a:t>
            </a:r>
          </a:p>
          <a:p>
            <a:pPr algn="ctr"/>
            <a:r>
              <a:rPr lang="en-US" sz="1100" dirty="0"/>
              <a:t>LM5116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5D0188A-16CF-4808-8793-87F6F01391F2}"/>
              </a:ext>
            </a:extLst>
          </p:cNvPr>
          <p:cNvCxnSpPr>
            <a:cxnSpLocks/>
            <a:stCxn id="27" idx="0"/>
          </p:cNvCxnSpPr>
          <p:nvPr/>
        </p:nvCxnSpPr>
        <p:spPr>
          <a:xfrm flipH="1" flipV="1">
            <a:off x="4033346" y="1759615"/>
            <a:ext cx="1" cy="113584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5467C59-E5DC-4EBB-BC0D-3A636476F420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3331945" y="1759618"/>
            <a:ext cx="2596131" cy="7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0D363E37-E774-48B4-8105-E2BB980EF4E7}"/>
              </a:ext>
            </a:extLst>
          </p:cNvPr>
          <p:cNvSpPr/>
          <p:nvPr/>
        </p:nvSpPr>
        <p:spPr>
          <a:xfrm>
            <a:off x="7108140" y="1333679"/>
            <a:ext cx="268694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E33E65-D030-472D-9BE7-749619F05C51}"/>
              </a:ext>
            </a:extLst>
          </p:cNvPr>
          <p:cNvSpPr txBox="1"/>
          <p:nvPr/>
        </p:nvSpPr>
        <p:spPr>
          <a:xfrm rot="16200000">
            <a:off x="6840360" y="1631188"/>
            <a:ext cx="8167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RJ45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ECA597D-88B8-44DD-89D0-B352EE7C34F2}"/>
              </a:ext>
            </a:extLst>
          </p:cNvPr>
          <p:cNvCxnSpPr>
            <a:cxnSpLocks/>
            <a:stCxn id="5" idx="3"/>
            <a:endCxn id="39" idx="1"/>
          </p:cNvCxnSpPr>
          <p:nvPr/>
        </p:nvCxnSpPr>
        <p:spPr>
          <a:xfrm flipV="1">
            <a:off x="6928446" y="1759618"/>
            <a:ext cx="179694" cy="78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DE3F2F6-23DC-45AC-804C-68AAB0F791D9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7376834" y="1759618"/>
            <a:ext cx="1424269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7C2A744-A511-45A3-AAA5-80A6656AE1D2}"/>
              </a:ext>
            </a:extLst>
          </p:cNvPr>
          <p:cNvSpPr txBox="1"/>
          <p:nvPr/>
        </p:nvSpPr>
        <p:spPr>
          <a:xfrm>
            <a:off x="7610495" y="1426721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2</a:t>
            </a: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4888F1C-0895-4B94-A990-EDB15D4CE070}"/>
              </a:ext>
            </a:extLst>
          </p:cNvPr>
          <p:cNvCxnSpPr>
            <a:cxnSpLocks/>
            <a:stCxn id="27" idx="3"/>
            <a:endCxn id="14" idx="1"/>
          </p:cNvCxnSpPr>
          <p:nvPr/>
        </p:nvCxnSpPr>
        <p:spPr>
          <a:xfrm>
            <a:off x="4533532" y="3321398"/>
            <a:ext cx="1394544" cy="7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DC09C61-82F5-49FE-8782-02DD3EEC348D}"/>
              </a:ext>
            </a:extLst>
          </p:cNvPr>
          <p:cNvCxnSpPr>
            <a:cxnSpLocks/>
            <a:endCxn id="73" idx="3"/>
          </p:cNvCxnSpPr>
          <p:nvPr/>
        </p:nvCxnSpPr>
        <p:spPr>
          <a:xfrm flipV="1">
            <a:off x="5028478" y="2578716"/>
            <a:ext cx="0" cy="74190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78134DCF-6ED3-4DC7-A45A-EE2E212FD57A}"/>
              </a:ext>
            </a:extLst>
          </p:cNvPr>
          <p:cNvSpPr txBox="1"/>
          <p:nvPr/>
        </p:nvSpPr>
        <p:spPr>
          <a:xfrm>
            <a:off x="4411167" y="2313564"/>
            <a:ext cx="12346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LDO (TLV760)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7A6C8BCF-D9AA-4327-BBB9-480D1B8D7C85}"/>
              </a:ext>
            </a:extLst>
          </p:cNvPr>
          <p:cNvSpPr/>
          <p:nvPr/>
        </p:nvSpPr>
        <p:spPr>
          <a:xfrm rot="5400000">
            <a:off x="4894131" y="1930753"/>
            <a:ext cx="268694" cy="10272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ED8510C-A0CF-4F1D-A227-2C443A7F56D7}"/>
              </a:ext>
            </a:extLst>
          </p:cNvPr>
          <p:cNvSpPr txBox="1"/>
          <p:nvPr/>
        </p:nvSpPr>
        <p:spPr>
          <a:xfrm>
            <a:off x="4394489" y="3090088"/>
            <a:ext cx="85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5V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1718530-A203-4458-A1EC-7AE355D9D601}"/>
              </a:ext>
            </a:extLst>
          </p:cNvPr>
          <p:cNvSpPr txBox="1"/>
          <p:nvPr/>
        </p:nvSpPr>
        <p:spPr>
          <a:xfrm>
            <a:off x="5374781" y="2243032"/>
            <a:ext cx="85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3.3V</a:t>
            </a:r>
          </a:p>
        </p:txBody>
      </p: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50C4247-ADB9-4936-914C-14A8E1A821A7}"/>
              </a:ext>
            </a:extLst>
          </p:cNvPr>
          <p:cNvCxnSpPr>
            <a:cxnSpLocks/>
            <a:endCxn id="73" idx="0"/>
          </p:cNvCxnSpPr>
          <p:nvPr/>
        </p:nvCxnSpPr>
        <p:spPr>
          <a:xfrm flipH="1" flipV="1">
            <a:off x="5542094" y="2444369"/>
            <a:ext cx="592006" cy="117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61835110-B348-40AD-9667-A2B86BBC94BF}"/>
              </a:ext>
            </a:extLst>
          </p:cNvPr>
          <p:cNvCxnSpPr>
            <a:cxnSpLocks/>
          </p:cNvCxnSpPr>
          <p:nvPr/>
        </p:nvCxnSpPr>
        <p:spPr>
          <a:xfrm flipV="1">
            <a:off x="6124717" y="2185556"/>
            <a:ext cx="0" cy="27009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BD111F2-3506-40A1-915D-083A266BE8A1}"/>
              </a:ext>
            </a:extLst>
          </p:cNvPr>
          <p:cNvSpPr txBox="1"/>
          <p:nvPr/>
        </p:nvSpPr>
        <p:spPr>
          <a:xfrm>
            <a:off x="5698778" y="2018146"/>
            <a:ext cx="85187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 err="1"/>
              <a:t>Vdd</a:t>
            </a:r>
            <a:endParaRPr lang="en-US" sz="700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EC2F9A3-CB4D-43FD-8062-E04E1B8AB647}"/>
              </a:ext>
            </a:extLst>
          </p:cNvPr>
          <p:cNvSpPr txBox="1"/>
          <p:nvPr/>
        </p:nvSpPr>
        <p:spPr>
          <a:xfrm>
            <a:off x="5354286" y="1595998"/>
            <a:ext cx="85187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 err="1"/>
              <a:t>Vpwr</a:t>
            </a:r>
            <a:endParaRPr lang="en-US" sz="7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E0E75EF-A807-4394-8728-074F189B0AC0}"/>
              </a:ext>
            </a:extLst>
          </p:cNvPr>
          <p:cNvSpPr txBox="1"/>
          <p:nvPr/>
        </p:nvSpPr>
        <p:spPr>
          <a:xfrm>
            <a:off x="3632006" y="1534443"/>
            <a:ext cx="85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44-57V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BB8731C-8F30-4627-9CA7-6BCBD1BE9801}"/>
              </a:ext>
            </a:extLst>
          </p:cNvPr>
          <p:cNvSpPr txBox="1"/>
          <p:nvPr/>
        </p:nvSpPr>
        <p:spPr>
          <a:xfrm>
            <a:off x="7725730" y="1775210"/>
            <a:ext cx="8518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44-57V</a:t>
            </a:r>
          </a:p>
        </p:txBody>
      </p: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1655878-E620-4FCC-AF73-25F408DE18AF}"/>
              </a:ext>
            </a:extLst>
          </p:cNvPr>
          <p:cNvCxnSpPr>
            <a:cxnSpLocks/>
            <a:stCxn id="100" idx="1"/>
            <a:endCxn id="5" idx="0"/>
          </p:cNvCxnSpPr>
          <p:nvPr/>
        </p:nvCxnSpPr>
        <p:spPr>
          <a:xfrm flipH="1">
            <a:off x="6428261" y="469817"/>
            <a:ext cx="948573" cy="864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8DE40CF-6D5F-4060-AB3C-473A53FDE34C}"/>
              </a:ext>
            </a:extLst>
          </p:cNvPr>
          <p:cNvSpPr txBox="1"/>
          <p:nvPr/>
        </p:nvSpPr>
        <p:spPr>
          <a:xfrm>
            <a:off x="7376834" y="54318"/>
            <a:ext cx="165286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/>
              <a:t>Autonomous mode:</a:t>
            </a:r>
          </a:p>
          <a:p>
            <a:r>
              <a:rPr lang="en-US" sz="1200" dirty="0"/>
              <a:t>No host controller needed in order to passthrough</a:t>
            </a:r>
          </a:p>
        </p:txBody>
      </p:sp>
    </p:spTree>
    <p:extLst>
      <p:ext uri="{BB962C8B-B14F-4D97-AF65-F5344CB8AC3E}">
        <p14:creationId xmlns:p14="http://schemas.microsoft.com/office/powerpoint/2010/main" val="1775717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Static </a:t>
            </a:r>
            <a:r>
              <a:rPr lang="en-US" dirty="0" err="1"/>
              <a:t>PoE</a:t>
            </a:r>
            <a:r>
              <a:rPr lang="en-US" dirty="0"/>
              <a:t> Pass Through</a:t>
            </a:r>
          </a:p>
        </p:txBody>
      </p:sp>
    </p:spTree>
    <p:extLst>
      <p:ext uri="{BB962C8B-B14F-4D97-AF65-F5344CB8AC3E}">
        <p14:creationId xmlns:p14="http://schemas.microsoft.com/office/powerpoint/2010/main" val="34632722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</a:t>
            </a:r>
            <a:r>
              <a:rPr lang="en-US" dirty="0" err="1"/>
              <a:t>PoE</a:t>
            </a:r>
            <a:r>
              <a:rPr lang="en-US" dirty="0"/>
              <a:t> Pass-Through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610320" y="1281721"/>
            <a:ext cx="1000370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13692" y="1277815"/>
            <a:ext cx="1000370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58278" y="1367694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</a:t>
            </a:r>
          </a:p>
          <a:p>
            <a:r>
              <a:rPr lang="en-US" dirty="0"/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8014" y="1371600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  <a:p>
            <a:r>
              <a:rPr lang="en-US" dirty="0"/>
              <a:t>Output</a:t>
            </a:r>
          </a:p>
        </p:txBody>
      </p:sp>
      <p:cxnSp>
        <p:nvCxnSpPr>
          <p:cNvPr id="10" name="Straight Connector 9"/>
          <p:cNvCxnSpPr>
            <a:stCxn id="6" idx="3"/>
            <a:endCxn id="5" idx="1"/>
          </p:cNvCxnSpPr>
          <p:nvPr/>
        </p:nvCxnSpPr>
        <p:spPr>
          <a:xfrm>
            <a:off x="2114062" y="1703754"/>
            <a:ext cx="496258" cy="3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203200" y="1672492"/>
            <a:ext cx="902677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008185" y="1062892"/>
            <a:ext cx="2711938" cy="18913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489173" y="2258646"/>
            <a:ext cx="1121525" cy="5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2532159" y="2313354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 Load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2324100" y="1711569"/>
            <a:ext cx="0" cy="815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2314331" y="2526322"/>
            <a:ext cx="1828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606800" y="1660769"/>
            <a:ext cx="902677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117969" y="1422400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54V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06110" y="1293446"/>
            <a:ext cx="1000370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509482" y="1289540"/>
            <a:ext cx="1000370" cy="85187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4654068" y="1379419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</a:t>
            </a:r>
          </a:p>
          <a:p>
            <a:r>
              <a:rPr lang="en-US" dirty="0"/>
              <a:t>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3804" y="1383325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PSE</a:t>
            </a:r>
          </a:p>
          <a:p>
            <a:r>
              <a:rPr lang="en-US" dirty="0"/>
              <a:t>Output</a:t>
            </a:r>
          </a:p>
        </p:txBody>
      </p:sp>
      <p:cxnSp>
        <p:nvCxnSpPr>
          <p:cNvPr id="30" name="Straight Connector 29"/>
          <p:cNvCxnSpPr>
            <a:stCxn id="27" idx="3"/>
            <a:endCxn id="26" idx="1"/>
          </p:cNvCxnSpPr>
          <p:nvPr/>
        </p:nvCxnSpPr>
        <p:spPr>
          <a:xfrm>
            <a:off x="5509852" y="1715479"/>
            <a:ext cx="496258" cy="3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403975" y="1074617"/>
            <a:ext cx="2711938" cy="189132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884963" y="2270371"/>
            <a:ext cx="1121525" cy="5353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5927949" y="2325079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 Load</a:t>
            </a:r>
          </a:p>
        </p:txBody>
      </p:sp>
      <p:cxnSp>
        <p:nvCxnSpPr>
          <p:cNvPr id="34" name="Straight Connector 33"/>
          <p:cNvCxnSpPr/>
          <p:nvPr/>
        </p:nvCxnSpPr>
        <p:spPr>
          <a:xfrm flipH="1">
            <a:off x="5719890" y="1723294"/>
            <a:ext cx="0" cy="8157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5710121" y="2538047"/>
            <a:ext cx="1828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7002590" y="1672494"/>
            <a:ext cx="902677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513759" y="1434125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54V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8008" y="3051209"/>
            <a:ext cx="785022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System designer knows the number of daisies, and cable lengths, and input power: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Back-calculate how long the chain can be</a:t>
            </a:r>
          </a:p>
          <a:p>
            <a:pPr marL="666645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PD voltage at the last chain is above the UVLO threshold of the PD 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Limit total solution within those system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878" y="731519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Vdrop1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7689" y="729915"/>
            <a:ext cx="1668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Efficiency hit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27120" y="710664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Vdrop2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24926" y="728310"/>
            <a:ext cx="1668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Efficiency hit 2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6574055" y="895149"/>
            <a:ext cx="183842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8256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Dynamic </a:t>
            </a:r>
            <a:r>
              <a:rPr lang="en-US" dirty="0" err="1"/>
              <a:t>PoE</a:t>
            </a:r>
            <a:r>
              <a:rPr lang="en-US" dirty="0"/>
              <a:t> Pass Through</a:t>
            </a:r>
          </a:p>
        </p:txBody>
      </p:sp>
    </p:spTree>
    <p:extLst>
      <p:ext uri="{BB962C8B-B14F-4D97-AF65-F5344CB8AC3E}">
        <p14:creationId xmlns:p14="http://schemas.microsoft.com/office/powerpoint/2010/main" val="3550575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Proposal for 2 PSE ports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5122" name="Picture 2" descr="C:\Users\a0282917\AppData\Local\Microsoft\Windows\Temporary Internet Files\Content.Outlook\4RSMJFMH\ArubaProposal_PoE_Hospitality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39" y="734938"/>
            <a:ext cx="4528441" cy="3477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9602C3-8B9C-4545-9B6E-7C359B51451F}"/>
              </a:ext>
            </a:extLst>
          </p:cNvPr>
          <p:cNvSpPr txBox="1"/>
          <p:nvPr/>
        </p:nvSpPr>
        <p:spPr>
          <a:xfrm>
            <a:off x="3270250" y="3473450"/>
            <a:ext cx="533400" cy="369332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8FD5FF-18FE-41AF-9F29-5E7478C5B621}"/>
              </a:ext>
            </a:extLst>
          </p:cNvPr>
          <p:cNvSpPr/>
          <p:nvPr/>
        </p:nvSpPr>
        <p:spPr>
          <a:xfrm>
            <a:off x="1016000" y="1562100"/>
            <a:ext cx="679450" cy="1905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59CFF9-A315-4B62-AF57-CE2FD9D9CC13}"/>
              </a:ext>
            </a:extLst>
          </p:cNvPr>
          <p:cNvSpPr txBox="1"/>
          <p:nvPr/>
        </p:nvSpPr>
        <p:spPr>
          <a:xfrm>
            <a:off x="1000125" y="1549628"/>
            <a:ext cx="13906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TPS2372-3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128B85-3F5B-449F-B0B5-13F0D0C3D0C2}"/>
              </a:ext>
            </a:extLst>
          </p:cNvPr>
          <p:cNvSpPr txBox="1"/>
          <p:nvPr/>
        </p:nvSpPr>
        <p:spPr>
          <a:xfrm>
            <a:off x="3181350" y="3473450"/>
            <a:ext cx="13906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TPS23881B1</a:t>
            </a:r>
          </a:p>
        </p:txBody>
      </p:sp>
    </p:spTree>
    <p:extLst>
      <p:ext uri="{BB962C8B-B14F-4D97-AF65-F5344CB8AC3E}">
        <p14:creationId xmlns:p14="http://schemas.microsoft.com/office/powerpoint/2010/main" val="1048086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what’s connected to the PD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/>
          </p:nvPr>
        </p:nvGraphicFramePr>
        <p:xfrm>
          <a:off x="343000" y="852116"/>
          <a:ext cx="8467725" cy="3505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1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5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90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79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176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54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010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010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010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7335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PSE Type</a:t>
                      </a:r>
                      <a:endParaRPr lang="en-US" sz="1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Power Sourced from PSE (W)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Maximum Power at PD (W)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Class Signature A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Class Signature B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Number of Class Cycles 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Resistor CLSA 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Resistor CLSB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TPH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TPL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/BT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1-2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15.4W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13.0W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1210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1210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1-2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3.84W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249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249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1-2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6.49W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1-2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15.4W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13.0W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90.9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90.9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25.5W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63.4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63.4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3-4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15.4W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13.0W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1210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1210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3-4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3.84W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249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249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3-4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6.49W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3-4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15.4W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13.0W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90.9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90.9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3-4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30W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25.5W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2-3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63.4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63.4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3-4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45W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40.0W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63.4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1210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3-4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60W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51.0W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63.4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249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75W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62.0W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63.4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90W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71.3W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63.4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90.9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129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Adapter (APD HIGH)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NA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NA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NA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NA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NA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NA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NA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POE++</a:t>
                      </a:r>
                      <a:endParaRPr lang="en-US" sz="1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45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38.7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63.4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1210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POE++</a:t>
                      </a:r>
                      <a:endParaRPr lang="en-US" sz="1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65</a:t>
                      </a:r>
                      <a:endParaRPr lang="en-US" sz="1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52.7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63.4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249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POE++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90</a:t>
                      </a:r>
                      <a:endParaRPr lang="en-US" sz="1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70</a:t>
                      </a:r>
                      <a:endParaRPr lang="en-US" sz="1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2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3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63.4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140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LOW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HIGH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616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POE++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123</a:t>
                      </a:r>
                      <a:endParaRPr lang="en-US" sz="100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90</a:t>
                      </a:r>
                      <a:endParaRPr lang="en-US" sz="1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4</a:t>
                      </a:r>
                      <a:endParaRPr lang="en-US" sz="1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3</a:t>
                      </a:r>
                      <a:endParaRPr lang="en-US" sz="1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3</a:t>
                      </a:r>
                      <a:endParaRPr lang="en-US" sz="1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b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63.4</a:t>
                      </a:r>
                      <a:endParaRPr lang="en-US" sz="1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90.9</a:t>
                      </a:r>
                      <a:endParaRPr lang="en-US" sz="1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LOW</a:t>
                      </a:r>
                      <a:endParaRPr lang="en-US" sz="1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LOW</a:t>
                      </a:r>
                      <a:endParaRPr lang="en-US" sz="1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HIGH</a:t>
                      </a:r>
                      <a:endParaRPr lang="en-US" sz="1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47311" marR="47311" marT="0" marB="0"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791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TPH TPL BT Measurements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518" y="236431"/>
            <a:ext cx="2867702" cy="1895171"/>
          </a:xfrm>
          <a:prstGeom prst="rect">
            <a:avLst/>
          </a:prstGeom>
        </p:spPr>
      </p:pic>
      <p:pic>
        <p:nvPicPr>
          <p:cNvPr id="204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448" y="857072"/>
            <a:ext cx="4016375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39282" y="581114"/>
            <a:ext cx="16193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Actual Resistance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99" y="2373772"/>
            <a:ext cx="8803340" cy="1352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08699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DCDC Input Voltage/Current Measurements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B97888F-6AF7-4263-B69D-592D8C33BAC7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890" y="969267"/>
            <a:ext cx="4168775" cy="198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153" y="1296292"/>
            <a:ext cx="6988175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47828" y="64948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Current</a:t>
            </a:r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1415" y="3090907"/>
            <a:ext cx="3908425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54949" y="2801596"/>
            <a:ext cx="954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Voltage</a:t>
            </a:r>
          </a:p>
        </p:txBody>
      </p:sp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92" y="3358497"/>
            <a:ext cx="2133600" cy="11009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41331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966D4A3-D20E-4E5C-9C1B-85DF3D5DF3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Passthrough Device Information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2416F-0250-40C0-AEAB-13943F11D0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BA23CF-AA30-4A18-B744-605C3E9DBF07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989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591669" y="3545712"/>
            <a:ext cx="4826735" cy="938719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numCol="2" anchor="ctr">
            <a:spAutoFit/>
          </a:bodyPr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/>
              <a:t>Ethernet Switches and Routers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/>
              <a:t>Lighting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/>
              <a:t>Pass-through Systems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/>
              <a:t>SOHO Routers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/>
              <a:t>Ethernet Hubs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altLang="en-US" sz="1100" dirty="0"/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591670" y="3287079"/>
            <a:ext cx="3924300" cy="272281"/>
          </a:xfrm>
          <a:prstGeom prst="rect">
            <a:avLst/>
          </a:prstGeom>
          <a:solidFill>
            <a:srgbClr val="DE0000"/>
          </a:solidFill>
          <a:ln w="19050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1670" y="739235"/>
            <a:ext cx="8247530" cy="272390"/>
          </a:xfrm>
          <a:prstGeom prst="rect">
            <a:avLst/>
          </a:prstGeom>
          <a:solidFill>
            <a:schemeClr val="tx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4515970" y="661985"/>
            <a:ext cx="244288" cy="446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71500" y="713109"/>
            <a:ext cx="3944469" cy="31380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4787537" y="754486"/>
            <a:ext cx="4038600" cy="2571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FFFFFF"/>
                </a:solidFill>
              </a:rPr>
              <a:t>Benefits</a:t>
            </a:r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2912396" y="4064900"/>
            <a:ext cx="1394267" cy="30008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00FF"/>
              </a:buClr>
            </a:pPr>
            <a:r>
              <a:rPr lang="en-US" sz="675" dirty="0">
                <a:solidFill>
                  <a:srgbClr val="000000"/>
                </a:solidFill>
              </a:rPr>
              <a:t>8 x 8 mm, 56-pin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>
                <a:srgbClr val="CC00FF"/>
              </a:buClr>
            </a:pPr>
            <a:r>
              <a:rPr lang="en-US" sz="675" dirty="0">
                <a:solidFill>
                  <a:srgbClr val="000000"/>
                </a:solidFill>
              </a:rPr>
              <a:t>QFN package</a:t>
            </a:r>
          </a:p>
        </p:txBody>
      </p:sp>
      <p:pic>
        <p:nvPicPr>
          <p:cNvPr id="17" name="Picture 6" descr="C:\Documents and Settings\a0272430\Application Data\PixelMetrics\CaptureWiz\LastCaptures\2010-11-03_09-37-20-112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93060" y="3716380"/>
            <a:ext cx="432937" cy="281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1004" y="4704994"/>
            <a:ext cx="2133600" cy="273844"/>
          </a:xfrm>
          <a:prstGeom prst="rect">
            <a:avLst/>
          </a:prstGeom>
        </p:spPr>
        <p:txBody>
          <a:bodyPr/>
          <a:lstStyle/>
          <a:p>
            <a:fld id="{0892281B-189C-DD44-8CCD-1176BC153EB5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322" y="2635569"/>
            <a:ext cx="4431030" cy="2026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14"/>
          <p:cNvSpPr txBox="1">
            <a:spLocks noChangeArrowheads="1"/>
          </p:cNvSpPr>
          <p:nvPr/>
        </p:nvSpPr>
        <p:spPr>
          <a:xfrm>
            <a:off x="131717" y="34201"/>
            <a:ext cx="8890635" cy="646351"/>
          </a:xfrm>
          <a:prstGeom prst="rect">
            <a:avLst/>
          </a:prstGeom>
        </p:spPr>
        <p:txBody>
          <a:bodyPr anchor="t"/>
          <a:lstStyle>
            <a:lvl1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tx2"/>
                </a:solidFill>
                <a:latin typeface="Arial" charset="0"/>
              </a:defRPr>
            </a:lvl2pPr>
            <a:lvl3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tx2"/>
                </a:solidFill>
                <a:latin typeface="Arial" charset="0"/>
              </a:defRPr>
            </a:lvl3pPr>
            <a:lvl4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tx2"/>
                </a:solidFill>
                <a:latin typeface="Arial" charset="0"/>
              </a:defRPr>
            </a:lvl4pPr>
            <a:lvl5pPr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chemeClr val="tx2"/>
                </a:solidFill>
                <a:latin typeface="Arial" charset="0"/>
              </a:defRPr>
            </a:lvl5pPr>
            <a:lvl6pPr marL="380895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rgbClr val="FF0000"/>
                </a:solidFill>
                <a:latin typeface="Arial" charset="0"/>
              </a:defRPr>
            </a:lvl6pPr>
            <a:lvl7pPr marL="761790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rgbClr val="FF0000"/>
                </a:solidFill>
                <a:latin typeface="Arial" charset="0"/>
              </a:defRPr>
            </a:lvl7pPr>
            <a:lvl8pPr marL="1142683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rgbClr val="FF0000"/>
                </a:solidFill>
                <a:latin typeface="Arial" charset="0"/>
              </a:defRPr>
            </a:lvl8pPr>
            <a:lvl9pPr marL="1523573" algn="l" rtl="0" fontAlgn="base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700" b="1">
                <a:solidFill>
                  <a:srgbClr val="FF0000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kern="0" dirty="0">
                <a:ea typeface="Calibri" pitchFamily="34" charset="0"/>
                <a:cs typeface="Calibri" pitchFamily="34" charset="0"/>
              </a:rPr>
              <a:t>TPS23881B1</a:t>
            </a:r>
            <a:br>
              <a:rPr lang="en-US" altLang="en-US" kern="0" dirty="0">
                <a:ea typeface="Calibri" pitchFamily="34" charset="0"/>
                <a:cs typeface="Calibri" pitchFamily="34" charset="0"/>
              </a:rPr>
            </a:br>
            <a:r>
              <a:rPr lang="en-US" sz="1800" dirty="0">
                <a:solidFill>
                  <a:schemeClr val="tx1"/>
                </a:solidFill>
              </a:rPr>
              <a:t>8-Channel 802.3bt Type-4 PSE w/ SRAM</a:t>
            </a:r>
            <a:endParaRPr lang="en-US" altLang="en-US" sz="2000" kern="0" dirty="0">
              <a:solidFill>
                <a:schemeClr val="tx1"/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15" name="Text Box 48"/>
          <p:cNvSpPr txBox="1">
            <a:spLocks noChangeArrowheads="1"/>
          </p:cNvSpPr>
          <p:nvPr/>
        </p:nvSpPr>
        <p:spPr bwMode="auto">
          <a:xfrm>
            <a:off x="4739667" y="977038"/>
            <a:ext cx="4404333" cy="1658531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/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/>
              <a:t>IEEE 802.3bt interoperability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/>
              <a:t>Flexible solution can deliver beyond .bt power levels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/>
              <a:t>Firmware upgradability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</a:rPr>
              <a:t>Expand max power sourced to 95W w/o exceeding 100W</a:t>
            </a:r>
            <a:endParaRPr lang="en-US" alt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/>
              <a:t>High current sensing accuracy and low power dissipation</a:t>
            </a:r>
            <a:endParaRPr lang="en-US" altLang="en-US" sz="1100" dirty="0">
              <a:solidFill>
                <a:srgbClr val="000000"/>
              </a:solidFill>
            </a:endParaRP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</a:rPr>
              <a:t>Detect &amp; power legacy PDs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</a:rPr>
              <a:t>Enables PSE systems without a host or I2C communication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/>
              <a:t>Required for PoE lighting applications</a:t>
            </a:r>
            <a:endParaRPr lang="en-US" altLang="en-US" sz="1100" dirty="0">
              <a:solidFill>
                <a:srgbClr val="000000"/>
              </a:solidFill>
            </a:endParaRP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</a:rPr>
              <a:t>Ability to detect and power dual signature PD loads.</a:t>
            </a:r>
            <a:endParaRPr lang="en-US" altLang="en-US" sz="1100" dirty="0"/>
          </a:p>
        </p:txBody>
      </p:sp>
      <p:sp>
        <p:nvSpPr>
          <p:cNvPr id="5" name="Text Box 47"/>
          <p:cNvSpPr txBox="1">
            <a:spLocks noChangeArrowheads="1"/>
          </p:cNvSpPr>
          <p:nvPr/>
        </p:nvSpPr>
        <p:spPr bwMode="auto">
          <a:xfrm>
            <a:off x="590550" y="977038"/>
            <a:ext cx="4115919" cy="2369412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/>
          <a:lstStyle/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</a:rPr>
              <a:t>IEEE 802.3bt Ready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</a:rPr>
              <a:t>2-Pair (up to 30W) &amp; 4-Pair (up to 125W) Configurable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</a:rPr>
              <a:t>I2C Programmable SRAM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Programmable power limiting accuracy ±2.5%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/>
              <a:t>0.200 Ω Sense Resistor with </a:t>
            </a:r>
            <a:r>
              <a:rPr lang="en-US" altLang="en-US" sz="1100" dirty="0">
                <a:solidFill>
                  <a:srgbClr val="000000"/>
                </a:solidFill>
              </a:rPr>
              <a:t>Kelvin Sensing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/>
              <a:t>Legacy PD Capacitance Measurement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b="1" dirty="0">
                <a:solidFill>
                  <a:srgbClr val="000000"/>
                </a:solidFill>
              </a:rPr>
              <a:t>Autonomous Mode</a:t>
            </a:r>
            <a:endParaRPr lang="en-US" altLang="en-US" sz="1100" b="1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/>
              <a:t>Autoclass Detection and Power Measurement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</a:rPr>
              <a:t>Single &amp; dual signature PD compatibility</a:t>
            </a:r>
            <a:endParaRPr lang="en-US" altLang="en-US" sz="1100" dirty="0"/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/>
              <a:t>Fast port shutdown input w/ up to 8 priority settings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>
                <a:solidFill>
                  <a:srgbClr val="000000"/>
                </a:solidFill>
              </a:rPr>
              <a:t>Short-Circuit Protection with Foldback</a:t>
            </a: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/>
              <a:t>14-Bit Port Current and Voltage Monitoring </a:t>
            </a:r>
            <a:endParaRPr lang="en-US" altLang="en-US" sz="1100" dirty="0">
              <a:solidFill>
                <a:srgbClr val="000000"/>
              </a:solidFill>
            </a:endParaRPr>
          </a:p>
          <a:p>
            <a:pPr marL="171450" indent="-1714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altLang="en-US" sz="1100" dirty="0"/>
              <a:t>Ultra Low Alpha Packaging Available (TPS23881A)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1887" y="179236"/>
            <a:ext cx="2197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</a:rPr>
              <a:t>Est. ETM Oct. ‘23</a:t>
            </a:r>
          </a:p>
        </p:txBody>
      </p:sp>
    </p:spTree>
    <p:extLst>
      <p:ext uri="{BB962C8B-B14F-4D97-AF65-F5344CB8AC3E}">
        <p14:creationId xmlns:p14="http://schemas.microsoft.com/office/powerpoint/2010/main" val="33928574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4"/>
          <p:cNvSpPr>
            <a:spLocks noGrp="1" noChangeArrowheads="1"/>
          </p:cNvSpPr>
          <p:nvPr>
            <p:ph type="title"/>
          </p:nvPr>
        </p:nvSpPr>
        <p:spPr>
          <a:xfrm>
            <a:off x="161925" y="43643"/>
            <a:ext cx="8890635" cy="474757"/>
          </a:xfrm>
        </p:spPr>
        <p:txBody>
          <a:bodyPr anchor="t"/>
          <a:lstStyle/>
          <a:p>
            <a:pPr eaLnBrk="1" hangingPunct="1"/>
            <a:r>
              <a:rPr lang="en-US" altLang="en-US" sz="2800" dirty="0"/>
              <a:t>TPS2372-3/TPS2372-4</a:t>
            </a:r>
            <a:br>
              <a:rPr lang="en-US" altLang="en-US" dirty="0">
                <a:ea typeface="Calibri" pitchFamily="34" charset="0"/>
                <a:cs typeface="Calibri" pitchFamily="34" charset="0"/>
              </a:rPr>
            </a:br>
            <a:r>
              <a:rPr lang="en-US" altLang="en-US" sz="2000" dirty="0">
                <a:solidFill>
                  <a:srgbClr val="000000"/>
                </a:solidFill>
                <a:ea typeface="Calibri" pitchFamily="34" charset="0"/>
                <a:cs typeface="Calibri" pitchFamily="34" charset="0"/>
              </a:rPr>
              <a:t>High Power .</a:t>
            </a:r>
            <a:r>
              <a:rPr lang="en-US" altLang="en-US" sz="2000" dirty="0" err="1">
                <a:solidFill>
                  <a:srgbClr val="000000"/>
                </a:solidFill>
                <a:ea typeface="Calibri" pitchFamily="34" charset="0"/>
                <a:cs typeface="Calibri" pitchFamily="34" charset="0"/>
              </a:rPr>
              <a:t>bt</a:t>
            </a:r>
            <a:r>
              <a:rPr lang="en-US" altLang="en-US" sz="2000" dirty="0">
                <a:solidFill>
                  <a:srgbClr val="000000"/>
                </a:solidFill>
                <a:ea typeface="Calibri" pitchFamily="34" charset="0"/>
                <a:cs typeface="Calibri" pitchFamily="34" charset="0"/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  <a:ea typeface="Calibri" pitchFamily="34" charset="0"/>
                <a:cs typeface="Calibri" pitchFamily="34" charset="0"/>
              </a:rPr>
              <a:t>PoE</a:t>
            </a:r>
            <a:r>
              <a:rPr lang="en-US" altLang="en-US" sz="2000" dirty="0">
                <a:solidFill>
                  <a:srgbClr val="000000"/>
                </a:solidFill>
                <a:ea typeface="Calibri" pitchFamily="34" charset="0"/>
                <a:cs typeface="Calibri" pitchFamily="34" charset="0"/>
              </a:rPr>
              <a:t> PD Interface with MPS and Low Standby Power</a:t>
            </a:r>
            <a:endParaRPr lang="en-US" altLang="en-US" sz="2400" dirty="0">
              <a:solidFill>
                <a:schemeClr val="tx1"/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211516" y="849600"/>
            <a:ext cx="4191000" cy="256939"/>
          </a:xfrm>
          <a:prstGeom prst="rect">
            <a:avLst/>
          </a:prstGeom>
          <a:solidFill>
            <a:schemeClr val="tx2"/>
          </a:solidFill>
          <a:ln w="19050">
            <a:solidFill>
              <a:schemeClr val="tx2"/>
            </a:solidFill>
          </a:ln>
          <a:extLst/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3067" y="1091844"/>
            <a:ext cx="4191000" cy="148862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txBody>
          <a:bodyPr wrap="square" rtlCol="0">
            <a:noAutofit/>
          </a:bodyPr>
          <a:lstStyle/>
          <a:p>
            <a:pPr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rgbClr val="000000"/>
                </a:solidFill>
              </a:rPr>
              <a:t>Compliant PD I/F for 2- and 4-pair applications</a:t>
            </a:r>
          </a:p>
          <a:p>
            <a:pPr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</a:rPr>
              <a:t>High Power Robust Solution up to 90W and 60W</a:t>
            </a:r>
            <a:endParaRPr lang="en-US" altLang="en-US" sz="1000" dirty="0">
              <a:solidFill>
                <a:srgbClr val="000000"/>
              </a:solidFill>
            </a:endParaRPr>
          </a:p>
          <a:p>
            <a:pPr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en-US" sz="1000" dirty="0">
              <a:solidFill>
                <a:srgbClr val="000000"/>
              </a:solidFill>
            </a:endParaRPr>
          </a:p>
          <a:p>
            <a:pPr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en-US" sz="1000" dirty="0">
              <a:solidFill>
                <a:srgbClr val="000000"/>
              </a:solidFill>
            </a:endParaRPr>
          </a:p>
          <a:p>
            <a:pPr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rgbClr val="000000"/>
                </a:solidFill>
              </a:rPr>
              <a:t>Allows Ultra-high “light load” efficiency solutions</a:t>
            </a:r>
          </a:p>
          <a:p>
            <a:pPr lvl="1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rgbClr val="000000"/>
                </a:solidFill>
              </a:rPr>
              <a:t>Ensures PSE will maintain power at </a:t>
            </a:r>
            <a:r>
              <a:rPr lang="en-US" altLang="en-US" sz="1000" i="1" u="sng" dirty="0">
                <a:solidFill>
                  <a:srgbClr val="000000"/>
                </a:solidFill>
              </a:rPr>
              <a:t>any</a:t>
            </a:r>
            <a:r>
              <a:rPr lang="en-US" altLang="en-US" sz="1000" dirty="0">
                <a:solidFill>
                  <a:srgbClr val="000000"/>
                </a:solidFill>
              </a:rPr>
              <a:t> load</a:t>
            </a:r>
          </a:p>
          <a:p>
            <a:pPr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rgbClr val="000000"/>
                </a:solidFill>
              </a:rPr>
              <a:t>Allows optimum PSE power budgeting</a:t>
            </a:r>
          </a:p>
          <a:p>
            <a:pPr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rgbClr val="000000"/>
                </a:solidFill>
              </a:rPr>
              <a:t>No Interoperability issue with PSE during inrush</a:t>
            </a: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4703067" y="849600"/>
            <a:ext cx="4191000" cy="254169"/>
          </a:xfrm>
          <a:prstGeom prst="rect">
            <a:avLst/>
          </a:prstGeom>
          <a:solidFill>
            <a:schemeClr val="tx2"/>
          </a:solidFill>
          <a:ln w="19050">
            <a:solidFill>
              <a:schemeClr val="tx2"/>
            </a:solidFill>
          </a:ln>
          <a:extLst/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defTabSz="9144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FFFFFF"/>
                </a:solidFill>
              </a:rPr>
              <a:t>Benefits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1516" y="3146242"/>
            <a:ext cx="4199486" cy="71558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txBody>
          <a:bodyPr wrap="square" numCol="2" rtlCol="0">
            <a:spAutoFit/>
          </a:bodyPr>
          <a:lstStyle/>
          <a:p>
            <a:pPr marL="111125" indent="-1111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 err="1">
                <a:solidFill>
                  <a:srgbClr val="000000"/>
                </a:solidFill>
              </a:rPr>
              <a:t>PoE</a:t>
            </a:r>
            <a:r>
              <a:rPr lang="en-US" sz="900" dirty="0">
                <a:solidFill>
                  <a:srgbClr val="000000"/>
                </a:solidFill>
              </a:rPr>
              <a:t> Lighting</a:t>
            </a:r>
          </a:p>
          <a:p>
            <a:pPr marL="111125" indent="-1111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4-Pair Non-isolated PoE</a:t>
            </a:r>
          </a:p>
          <a:p>
            <a:pPr marL="111125" indent="-1111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Wireless Access Points</a:t>
            </a:r>
          </a:p>
          <a:p>
            <a:pPr marL="111125" indent="-1111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000000"/>
                </a:solidFill>
              </a:rPr>
              <a:t>IP cameras</a:t>
            </a:r>
          </a:p>
          <a:p>
            <a:pPr>
              <a:lnSpc>
                <a:spcPct val="150000"/>
              </a:lnSpc>
            </a:pPr>
            <a:endParaRPr lang="en-US" sz="900" dirty="0">
              <a:solidFill>
                <a:srgbClr val="000000"/>
              </a:solidFill>
            </a:endParaRPr>
          </a:p>
        </p:txBody>
      </p:sp>
      <p:sp>
        <p:nvSpPr>
          <p:cNvPr id="17" name="Rectangle 14"/>
          <p:cNvSpPr>
            <a:spLocks noChangeArrowheads="1"/>
          </p:cNvSpPr>
          <p:nvPr/>
        </p:nvSpPr>
        <p:spPr bwMode="auto">
          <a:xfrm>
            <a:off x="208551" y="2799388"/>
            <a:ext cx="4191000" cy="346855"/>
          </a:xfrm>
          <a:prstGeom prst="rect">
            <a:avLst/>
          </a:prstGeom>
          <a:solidFill>
            <a:schemeClr val="tx2"/>
          </a:solidFill>
          <a:ln w="19050">
            <a:solidFill>
              <a:schemeClr val="tx2"/>
            </a:solidFill>
          </a:ln>
          <a:extLst/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defTabSz="914400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en-US" sz="1200" b="1" dirty="0">
                <a:solidFill>
                  <a:srgbClr val="FFFFFF"/>
                </a:solidFill>
              </a:rPr>
              <a:t>Applications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1516" y="1110591"/>
            <a:ext cx="4191000" cy="1688798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bg1">
                <a:lumMod val="95000"/>
              </a:schemeClr>
            </a:solidFill>
          </a:ln>
        </p:spPr>
        <p:txBody>
          <a:bodyPr wrap="square" rtlCol="0">
            <a:noAutofit/>
          </a:bodyPr>
          <a:lstStyle/>
          <a:p>
            <a:pPr indent="-17145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rgbClr val="000000"/>
                </a:solidFill>
                <a:latin typeface="Arial" charset="0"/>
              </a:rPr>
              <a:t>IEEE 802.3bt, at and UPOE solution</a:t>
            </a:r>
          </a:p>
          <a:p>
            <a:pPr indent="-17145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charset="0"/>
              </a:rPr>
              <a:t>Robust 100 V </a:t>
            </a:r>
            <a:r>
              <a:rPr lang="en-US" sz="1000" dirty="0" err="1">
                <a:solidFill>
                  <a:srgbClr val="000000"/>
                </a:solidFill>
                <a:latin typeface="Arial" charset="0"/>
              </a:rPr>
              <a:t>Hotswap</a:t>
            </a:r>
            <a:r>
              <a:rPr lang="en-US" sz="1000" dirty="0">
                <a:solidFill>
                  <a:srgbClr val="000000"/>
                </a:solidFill>
                <a:latin typeface="Arial" charset="0"/>
              </a:rPr>
              <a:t> MOSFET</a:t>
            </a:r>
          </a:p>
          <a:p>
            <a:pPr marL="380895" lvl="1" indent="-17145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charset="0"/>
              </a:rPr>
              <a:t>TPS2372-4 (typ.): 0.1-</a:t>
            </a:r>
            <a:r>
              <a:rPr lang="el-GR" sz="1000" dirty="0">
                <a:solidFill>
                  <a:srgbClr val="000000"/>
                </a:solidFill>
                <a:latin typeface="Arial" charset="0"/>
              </a:rPr>
              <a:t>Ω, 2.2-</a:t>
            </a:r>
            <a:r>
              <a:rPr lang="en-US" sz="1000" dirty="0">
                <a:solidFill>
                  <a:srgbClr val="000000"/>
                </a:solidFill>
                <a:latin typeface="Arial" charset="0"/>
              </a:rPr>
              <a:t>A Current Limit</a:t>
            </a:r>
          </a:p>
          <a:p>
            <a:pPr marL="380895" lvl="1" indent="-17145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charset="0"/>
              </a:rPr>
              <a:t>TPS2372-3 (typ.): 0.3-</a:t>
            </a:r>
            <a:r>
              <a:rPr lang="el-GR" sz="1000" dirty="0">
                <a:solidFill>
                  <a:srgbClr val="000000"/>
                </a:solidFill>
                <a:latin typeface="Arial" charset="0"/>
              </a:rPr>
              <a:t>Ω, 1.8-</a:t>
            </a:r>
            <a:r>
              <a:rPr lang="en-US" sz="1000" dirty="0">
                <a:solidFill>
                  <a:srgbClr val="000000"/>
                </a:solidFill>
                <a:latin typeface="Arial" charset="0"/>
              </a:rPr>
              <a:t>A Current Limit</a:t>
            </a:r>
          </a:p>
          <a:p>
            <a:pPr indent="-17145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rgbClr val="000000"/>
                </a:solidFill>
                <a:latin typeface="Arial" charset="0"/>
              </a:rPr>
              <a:t>Automatic Maintain Power Signature</a:t>
            </a:r>
          </a:p>
          <a:p>
            <a:pPr indent="-17145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rgbClr val="000000"/>
                </a:solidFill>
                <a:latin typeface="Arial" charset="0"/>
              </a:rPr>
              <a:t>Supports </a:t>
            </a:r>
            <a:r>
              <a:rPr lang="en-US" altLang="en-US" sz="1000" dirty="0" err="1">
                <a:solidFill>
                  <a:srgbClr val="000000"/>
                </a:solidFill>
                <a:latin typeface="Arial" charset="0"/>
              </a:rPr>
              <a:t>Autoclass</a:t>
            </a:r>
            <a:endParaRPr lang="en-US" altLang="en-US" sz="1000" dirty="0">
              <a:solidFill>
                <a:srgbClr val="000000"/>
              </a:solidFill>
              <a:latin typeface="Arial" charset="0"/>
            </a:endParaRPr>
          </a:p>
          <a:p>
            <a:pPr indent="-17145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rgbClr val="000000"/>
                </a:solidFill>
                <a:latin typeface="Arial" charset="0"/>
              </a:rPr>
              <a:t>PG Output with PSE Inrush Completion delay</a:t>
            </a:r>
          </a:p>
          <a:p>
            <a:pPr indent="-171450" defTabSz="9144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000" dirty="0">
                <a:solidFill>
                  <a:srgbClr val="000000"/>
                </a:solidFill>
                <a:latin typeface="Arial" charset="0"/>
              </a:rPr>
              <a:t>QFN20 Package (5x5 RGW)</a:t>
            </a:r>
            <a:br>
              <a:rPr lang="en-US" sz="700" dirty="0">
                <a:solidFill>
                  <a:srgbClr val="000000"/>
                </a:solidFill>
                <a:latin typeface="Arial" charset="0"/>
              </a:rPr>
            </a:br>
            <a:br>
              <a:rPr lang="en-US" sz="700" dirty="0">
                <a:solidFill>
                  <a:srgbClr val="000000"/>
                </a:solidFill>
                <a:latin typeface="Arial" charset="0"/>
              </a:rPr>
            </a:br>
            <a:br>
              <a:rPr lang="en-US" sz="1000" dirty="0">
                <a:solidFill>
                  <a:srgbClr val="000000"/>
                </a:solidFill>
                <a:latin typeface="Arial" charset="0"/>
              </a:rPr>
            </a:br>
            <a:endParaRPr lang="en-US" sz="1000" dirty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3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5220" y="2614072"/>
            <a:ext cx="3795344" cy="2118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011004" y="4704994"/>
            <a:ext cx="2133600" cy="273844"/>
          </a:xfrm>
          <a:prstGeom prst="rect">
            <a:avLst/>
          </a:prstGeom>
        </p:spPr>
        <p:txBody>
          <a:bodyPr/>
          <a:lstStyle/>
          <a:p>
            <a:fld id="{0892281B-189C-DD44-8CCD-1176BC153EB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0400702"/>
      </p:ext>
    </p:extLst>
  </p:cSld>
  <p:clrMapOvr>
    <a:masterClrMapping/>
  </p:clrMapOvr>
</p:sld>
</file>

<file path=ppt/theme/theme1.xml><?xml version="1.0" encoding="utf-8"?>
<a:theme xmlns:a="http://schemas.openxmlformats.org/drawingml/2006/main" name="2_FinalPowerpoint">
  <a:themeElements>
    <a:clrScheme name="Custom 1">
      <a:dk1>
        <a:srgbClr val="000000"/>
      </a:dk1>
      <a:lt1>
        <a:srgbClr val="FFFFFF"/>
      </a:lt1>
      <a:dk2>
        <a:srgbClr val="DE0000"/>
      </a:dk2>
      <a:lt2>
        <a:srgbClr val="808080"/>
      </a:lt2>
      <a:accent1>
        <a:srgbClr val="DE0000"/>
      </a:accent1>
      <a:accent2>
        <a:srgbClr val="A4A4A4"/>
      </a:accent2>
      <a:accent3>
        <a:srgbClr val="117788"/>
      </a:accent3>
      <a:accent4>
        <a:srgbClr val="404040"/>
      </a:accent4>
      <a:accent5>
        <a:srgbClr val="4ABED4"/>
      </a:accent5>
      <a:accent6>
        <a:srgbClr val="7F7F7F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0450184F-FECE-4F4E-9465-90FF95DEA0E4}" vid="{4EBE6972-D454-4FA8-9A2F-9FAFE2BB323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 - No CIP marking</Template>
  <TotalTime>0</TotalTime>
  <Words>1471</Words>
  <Application>Microsoft Office PowerPoint</Application>
  <PresentationFormat>On-screen Show (16:9)</PresentationFormat>
  <Paragraphs>601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ＭＳ Ｐゴシック</vt:lpstr>
      <vt:lpstr>Arial</vt:lpstr>
      <vt:lpstr>Calibri</vt:lpstr>
      <vt:lpstr>2_FinalPowerpoint</vt:lpstr>
      <vt:lpstr>PoE Passthrough Proposal</vt:lpstr>
      <vt:lpstr>Contents</vt:lpstr>
      <vt:lpstr>TI PoE Portfolio</vt:lpstr>
      <vt:lpstr>PowerPoint Presentation</vt:lpstr>
      <vt:lpstr>PSE selection flowchart</vt:lpstr>
      <vt:lpstr>PowerPoint Presentation</vt:lpstr>
      <vt:lpstr>Passthrough (Daisy Chaining)</vt:lpstr>
      <vt:lpstr>PoE Daisy-Chaining Overview</vt:lpstr>
      <vt:lpstr>PoE Pass-Through Applications</vt:lpstr>
      <vt:lpstr>High Level Block Diagram: PoE Pass-through</vt:lpstr>
      <vt:lpstr>Multi-system Daisy Chain</vt:lpstr>
      <vt:lpstr>Multi-system Daisy Chain</vt:lpstr>
      <vt:lpstr>Considerations</vt:lpstr>
      <vt:lpstr>PowerPoint Presentation</vt:lpstr>
      <vt:lpstr>TI - Device Architecture</vt:lpstr>
      <vt:lpstr>Static PoE Pass Through</vt:lpstr>
      <vt:lpstr>Static PoE Pass-Through</vt:lpstr>
      <vt:lpstr>Dynamic PoE Pass Through</vt:lpstr>
      <vt:lpstr>Architecture Proposal for 2 PSE ports</vt:lpstr>
      <vt:lpstr>Determining what’s connected to the PD</vt:lpstr>
      <vt:lpstr>TPH TPL BT Measurements</vt:lpstr>
      <vt:lpstr>DCDC Input Voltage/Current Measurements</vt:lpstr>
      <vt:lpstr>Passthrough Device Information</vt:lpstr>
      <vt:lpstr>PowerPoint Presentation</vt:lpstr>
      <vt:lpstr>TPS2372-3/TPS2372-4 High Power .bt PoE PD Interface with MPS and Low Standby Power</vt:lpstr>
    </vt:vector>
  </TitlesOfParts>
  <Company>Texas Instruments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PoE Passthrough Proposal</dc:title>
  <dc:creator>Beader, Brandon</dc:creator>
  <cp:lastModifiedBy>Beader, Brandon</cp:lastModifiedBy>
  <cp:revision>2</cp:revision>
  <dcterms:created xsi:type="dcterms:W3CDTF">2024-07-11T20:17:04Z</dcterms:created>
  <dcterms:modified xsi:type="dcterms:W3CDTF">2024-07-11T20:18:13Z</dcterms:modified>
</cp:coreProperties>
</file>